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sldIdLst>
    <p:sldId id="272" r:id="rId5"/>
    <p:sldId id="274" r:id="rId6"/>
    <p:sldId id="277" r:id="rId7"/>
    <p:sldId id="279" r:id="rId8"/>
    <p:sldId id="282" r:id="rId9"/>
    <p:sldId id="258" r:id="rId10"/>
    <p:sldId id="276" r:id="rId11"/>
    <p:sldId id="283" r:id="rId12"/>
    <p:sldId id="275" r:id="rId13"/>
    <p:sldId id="259" r:id="rId14"/>
    <p:sldId id="260" r:id="rId15"/>
    <p:sldId id="268" r:id="rId16"/>
    <p:sldId id="285" r:id="rId17"/>
    <p:sldId id="270" r:id="rId18"/>
    <p:sldId id="286" r:id="rId19"/>
    <p:sldId id="271" r:id="rId20"/>
    <p:sldId id="273" r:id="rId21"/>
    <p:sldId id="284" r:id="rId22"/>
    <p:sldId id="264" r:id="rId23"/>
    <p:sldId id="265" r:id="rId24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01BD4-4FD9-4D82-A841-50EC0E08C5B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59240-7F09-48E1-BBD4-BAE8B7576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5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59240-7F09-48E1-BBD4-BAE8B757627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30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yomika.singh@dituniversity.edu.i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{&quot;o11&quot;: {&quot;isO11Modified&quot;: true}}"/>
          <p:cNvSpPr/>
          <p:nvPr/>
        </p:nvSpPr>
        <p:spPr>
          <a:xfrm>
            <a:off x="0" y="6282812"/>
            <a:ext cx="12216659" cy="575187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4" name="Picture 3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96870" y="3917882"/>
          <a:ext cx="10198259" cy="18419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79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Name of</a:t>
                      </a:r>
                      <a:r>
                        <a:rPr lang="en-US" sz="2000" baseline="0" dirty="0"/>
                        <a:t> Student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Major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SAP ID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E-mail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407">
                <a:tc>
                  <a:txBody>
                    <a:bodyPr/>
                    <a:lstStyle/>
                    <a:p>
                      <a:r>
                        <a:rPr lang="en-US" sz="2000" dirty="0"/>
                        <a:t>Sahil Sharma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Fullstack &amp; DevOps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1000018807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1000018807@dit.edu.in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915">
                <a:tc>
                  <a:txBody>
                    <a:bodyPr/>
                    <a:lstStyle/>
                    <a:p>
                      <a:r>
                        <a:rPr lang="en-US" sz="2000" dirty="0"/>
                        <a:t>Divyadeep Kaur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Science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1000018180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1000018180@dit.edu.in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36">
                <a:tc>
                  <a:txBody>
                    <a:bodyPr/>
                    <a:lstStyle/>
                    <a:p>
                      <a:r>
                        <a:rPr lang="en-US" sz="2000" dirty="0"/>
                        <a:t>Gracy Mehra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Science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1000017919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1000017919@dit.edu.in</a:t>
                      </a:r>
                      <a:endParaRPr lang="en-US" sz="20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83552" y="6385739"/>
            <a:ext cx="1060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Faculty Advisor 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– Dr. </a:t>
            </a:r>
            <a:r>
              <a:rPr lang="en-US" dirty="0" err="1">
                <a:solidFill>
                  <a:schemeClr val="bg1"/>
                </a:solidFill>
                <a:latin typeface="Franklin Gothic Book" panose="020B0503020102020204" pitchFamily="34" charset="0"/>
              </a:rPr>
              <a:t>Vyomika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 Singh                                 </a:t>
            </a:r>
            <a:r>
              <a:rPr lang="en-US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E-mail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 – vyomika.singh@dituniversity.edu.in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-75165"/>
            <a:ext cx="121920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2400" b="1" dirty="0"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cs typeface="Arial" panose="020B0604020202020204" pitchFamily="34" charset="0"/>
              </a:rPr>
              <a:t>Capstone Project </a:t>
            </a:r>
          </a:p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</a:rPr>
              <a:t>Miryn AI: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Persistent Memory &amp; Identity in Conversational AI</a:t>
            </a:r>
            <a:endParaRPr lang="en-US" sz="28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dirty="0">
                <a:cs typeface="Arial" panose="020B0604020202020204" pitchFamily="34" charset="0"/>
              </a:rPr>
              <a:t>Group No. </a:t>
            </a:r>
            <a:r>
              <a:rPr lang="en-US" sz="2200" b="1" dirty="0">
                <a:cs typeface="Arial" panose="020B0604020202020204" pitchFamily="34" charset="0"/>
              </a:rPr>
              <a:t>BTCSE-86</a:t>
            </a:r>
          </a:p>
          <a:p>
            <a:pPr algn="ctr">
              <a:lnSpc>
                <a:spcPct val="150000"/>
              </a:lnSpc>
            </a:pPr>
            <a:r>
              <a:rPr lang="en-US" sz="2200" dirty="0">
                <a:cs typeface="Arial" panose="020B0604020202020204" pitchFamily="34" charset="0"/>
              </a:rPr>
              <a:t>Faculty Advisor : Dr. Vyomika Singh</a:t>
            </a:r>
          </a:p>
          <a:p>
            <a:pPr algn="ctr">
              <a:lnSpc>
                <a:spcPct val="150000"/>
              </a:lnSpc>
            </a:pPr>
            <a:r>
              <a:rPr lang="en-US" sz="2200" dirty="0">
                <a:cs typeface="Arial" panose="020B0604020202020204" pitchFamily="34" charset="0"/>
              </a:rPr>
              <a:t>Assistant Professor II, School of Computing</a:t>
            </a:r>
          </a:p>
          <a:p>
            <a:pPr algn="ctr"/>
            <a:r>
              <a:rPr lang="en-US" sz="2200" dirty="0">
                <a:cs typeface="Arial" panose="020B0604020202020204" pitchFamily="34" charset="0"/>
                <a:hlinkClick r:id="rId4"/>
              </a:rPr>
              <a:t>vyomika.singh@dituniversity.edu.in</a:t>
            </a:r>
            <a:endParaRPr lang="en-US" sz="2200" dirty="0">
              <a:cs typeface="Arial" panose="020B0604020202020204" pitchFamily="34" charset="0"/>
            </a:endParaRP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{&quot;o11&quot;: {&quot;isO11Modified&quot;: true}}"/>
          <p:cNvSpPr/>
          <p:nvPr/>
        </p:nvSpPr>
        <p:spPr>
          <a:xfrm>
            <a:off x="0" y="6282812"/>
            <a:ext cx="12216659" cy="575187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4" name="Picture 3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>
            <a:off x="1483552" y="6385739"/>
            <a:ext cx="1060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Faculty Advisor 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– Dr. </a:t>
            </a:r>
            <a:r>
              <a:rPr lang="en-US" dirty="0" err="1">
                <a:solidFill>
                  <a:schemeClr val="bg1"/>
                </a:solidFill>
                <a:latin typeface="Franklin Gothic Book" panose="020B0503020102020204" pitchFamily="34" charset="0"/>
              </a:rPr>
              <a:t>Vyomika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 Singh                                 </a:t>
            </a:r>
            <a:r>
              <a:rPr lang="en-US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E-mail</a:t>
            </a:r>
            <a:r>
              <a:rPr lang="en-US" dirty="0">
                <a:solidFill>
                  <a:schemeClr val="bg1"/>
                </a:solidFill>
                <a:latin typeface="Franklin Gothic Book" panose="020B0503020102020204" pitchFamily="34" charset="0"/>
              </a:rPr>
              <a:t> – vyomika.singh@dituniversity.edu.in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59" y="337523"/>
            <a:ext cx="12192000" cy="1225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2400" b="1" dirty="0"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C00000"/>
                </a:solidFill>
              </a:rPr>
              <a:t>Miryn AI: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Persistent Memory &amp; Identity in Conversational AI</a:t>
            </a:r>
            <a:endParaRPr lang="en-US" sz="28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073" y="1594901"/>
            <a:ext cx="120975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</a:rPr>
              <a:t>Table of contents:</a:t>
            </a:r>
          </a:p>
          <a:p>
            <a:endParaRPr lang="en-IN" sz="2400" dirty="0"/>
          </a:p>
          <a:p>
            <a:pPr marL="342900" indent="-342900">
              <a:buAutoNum type="arabicPeriod"/>
            </a:pPr>
            <a:r>
              <a:rPr lang="en-IN" sz="2400" dirty="0"/>
              <a:t>Introduction</a:t>
            </a:r>
          </a:p>
          <a:p>
            <a:pPr marL="342900" indent="-342900">
              <a:buAutoNum type="arabicPeriod"/>
            </a:pPr>
            <a:r>
              <a:rPr lang="en-IN" sz="2400" dirty="0"/>
              <a:t>Problem statement and description</a:t>
            </a:r>
          </a:p>
          <a:p>
            <a:pPr marL="342900" indent="-342900">
              <a:buAutoNum type="arabicPeriod"/>
            </a:pPr>
            <a:r>
              <a:rPr lang="en-IN" sz="2400" dirty="0"/>
              <a:t>Background</a:t>
            </a:r>
          </a:p>
          <a:p>
            <a:pPr marL="342900" indent="-342900">
              <a:buAutoNum type="arabicPeriod"/>
            </a:pPr>
            <a:r>
              <a:rPr lang="en-IN" sz="2400" dirty="0"/>
              <a:t>Related Works</a:t>
            </a:r>
          </a:p>
          <a:p>
            <a:pPr marL="342900" indent="-342900">
              <a:buAutoNum type="arabicPeriod"/>
            </a:pPr>
            <a:r>
              <a:rPr lang="en-IN" sz="2400" dirty="0"/>
              <a:t>Project Description</a:t>
            </a:r>
          </a:p>
          <a:p>
            <a:pPr marL="342900" indent="-342900">
              <a:buAutoNum type="arabicPeriod"/>
            </a:pPr>
            <a:r>
              <a:rPr lang="en-IN" sz="2400" dirty="0"/>
              <a:t>Feasibility Study</a:t>
            </a:r>
          </a:p>
          <a:p>
            <a:pPr marL="342900" indent="-342900">
              <a:buAutoNum type="arabicPeriod"/>
            </a:pPr>
            <a:r>
              <a:rPr lang="en-IN" sz="2400" dirty="0"/>
              <a:t>Proposed Methodology</a:t>
            </a:r>
          </a:p>
          <a:p>
            <a:pPr marL="342900" indent="-342900">
              <a:buAutoNum type="arabicPeriod"/>
            </a:pPr>
            <a:r>
              <a:rPr lang="en-IN" sz="2400" dirty="0"/>
              <a:t>Project Timeline</a:t>
            </a:r>
          </a:p>
          <a:p>
            <a:pPr marL="342900" indent="-342900">
              <a:buAutoNum type="arabicPeriod"/>
            </a:pPr>
            <a:r>
              <a:rPr lang="en-IN" sz="2400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descr="{&quot;o11&quot;: {&quot;isO11Modified&quot;: true}}"/>
          <p:cNvSpPr txBox="1"/>
          <p:nvPr/>
        </p:nvSpPr>
        <p:spPr>
          <a:xfrm>
            <a:off x="1346404" y="339518"/>
            <a:ext cx="338509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INTRODUCTION</a:t>
            </a:r>
            <a:endParaRPr sz="3800" dirty="0">
              <a:latin typeface="+mj-lt"/>
            </a:endParaRPr>
          </a:p>
        </p:txBody>
      </p:sp>
      <p:sp>
        <p:nvSpPr>
          <p:cNvPr id="28" name="Rectangle 27" descr="{&quot;o11&quot;: {&quot;isO11Modified&quot;: true}}"/>
          <p:cNvSpPr/>
          <p:nvPr/>
        </p:nvSpPr>
        <p:spPr>
          <a:xfrm>
            <a:off x="635000" y="64135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2" name="Picture 31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/>
          <p:cNvSpPr txBox="1"/>
          <p:nvPr/>
        </p:nvSpPr>
        <p:spPr>
          <a:xfrm>
            <a:off x="0" y="1226833"/>
            <a:ext cx="121920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AI systems have advanced significantly in recent years. Modern large language models such as GPT-4, Gemini, and Claude are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capable of generating coherent, contextually nuanced responses across a wide range of topics.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can engage in sophisticated dialogue, assist with complex reasoning tasks, and support diverse applications ranging from education to productivity.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Despite these capabilities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fundamental limitation remains: most conversational AI systems operate using a stateless interaction model.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chat session ends, the system does not retain persistent knowledge about the user. Each new conversation therefore begins without awareness of previous interactions, user history, or evolving personal context.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this design is sufficient for short, task-oriented queries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becomes a significant constraint for long-term use cases such as mental health support, academic mentoring, or personal productivity guidance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these scenarios,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 awareness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essential. Without persistent memory, users must repeatedly restate their background, goals, and preferences, preventing the system from building a cumulative understanding of the individual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 descr="{&quot;o11&quot;: {&quot;isO11Modified&quot;: true}}"/>
          <p:cNvSpPr/>
          <p:nvPr/>
        </p:nvSpPr>
        <p:spPr>
          <a:xfrm>
            <a:off x="635000" y="64135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2" name="Picture 31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4634" t="7651" r="5388" b="6029"/>
          <a:stretch>
            <a:fillRect/>
          </a:stretch>
        </p:blipFill>
        <p:spPr>
          <a:xfrm>
            <a:off x="300501" y="2086313"/>
            <a:ext cx="5420278" cy="2924933"/>
          </a:xfrm>
          <a:prstGeom prst="rect">
            <a:avLst/>
          </a:prstGeom>
        </p:spPr>
      </p:pic>
      <p:sp>
        <p:nvSpPr>
          <p:cNvPr id="10" name="TextBox 9" descr="{&quot;o11&quot;: {&quot;isO11Modified&quot;: true}}"/>
          <p:cNvSpPr txBox="1"/>
          <p:nvPr/>
        </p:nvSpPr>
        <p:spPr>
          <a:xfrm>
            <a:off x="1346404" y="339518"/>
            <a:ext cx="338509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INTRODUCTION</a:t>
            </a:r>
            <a:endParaRPr sz="38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86566" y="1286621"/>
            <a:ext cx="63054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 highlights the primary components of conversational AI systems: Natural Language Understanding (NLU), Dialogue Management, Natural Language Generation (NLG), and Speech Recognition. Despite advances in these areas, several research gaps remain: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persistent memory: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conversational systems operate with short-term context and do not retain information across sessions, limiting long-term interaction capabilities.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architectures rarely incorporate user modeling or adaptive learning to tailor responses based on user behavior, preferences, or historical interactions.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rigidity: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pipeline structure (NLU → Dialogue Management → NLG) restricts dynamic interaction between components, reducing flexibility in complex conversational scenarios.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 descr="{&quot;o11&quot;: {&quot;isO11Modified&quot;: true}}"/>
          <p:cNvSpPr/>
          <p:nvPr/>
        </p:nvSpPr>
        <p:spPr>
          <a:xfrm>
            <a:off x="635000" y="64135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2" name="Picture 31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4634" t="7651" r="5388" b="6029"/>
          <a:stretch>
            <a:fillRect/>
          </a:stretch>
        </p:blipFill>
        <p:spPr>
          <a:xfrm>
            <a:off x="165786" y="2103147"/>
            <a:ext cx="5974175" cy="3223831"/>
          </a:xfrm>
          <a:prstGeom prst="rect">
            <a:avLst/>
          </a:prstGeom>
        </p:spPr>
      </p:pic>
      <p:sp>
        <p:nvSpPr>
          <p:cNvPr id="10" name="TextBox 9" descr="{&quot;o11&quot;: {&quot;isO11Modified&quot;: true}}"/>
          <p:cNvSpPr txBox="1"/>
          <p:nvPr/>
        </p:nvSpPr>
        <p:spPr>
          <a:xfrm>
            <a:off x="1346404" y="339518"/>
            <a:ext cx="338509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INTRODUCTION</a:t>
            </a:r>
            <a:endParaRPr sz="38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39961" y="1016626"/>
            <a:ext cx="60520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Context management challenges: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Dialogue management systems often struggle to maintain deep contextual understanding across long or multi-topic conversations.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Insufficient integration of multimodal inputs: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speech recognition is included, many systems lack effective integration of multiple modalities such as voice, text, and contextual data.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Scalability and domain adaptation issues: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systems frequently require significant retraining or redesign to function effectively across different domains.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these gaps requires the development of memory-enabled, context-aware, and adaptive conversational architectures that integrate user modeling and long-term contextual understanding into the core conversational pipeline.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 descr="{&quot;o11&quot;: {&quot;isO11Modified&quot;: true}}"/>
          <p:cNvSpPr/>
          <p:nvPr/>
        </p:nvSpPr>
        <p:spPr>
          <a:xfrm>
            <a:off x="635000" y="64135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2" name="Picture 31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Box 32"/>
          <p:cNvSpPr txBox="1"/>
          <p:nvPr/>
        </p:nvSpPr>
        <p:spPr>
          <a:xfrm>
            <a:off x="3276" y="1448766"/>
            <a:ext cx="12192000" cy="409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problem addressed by this project is simple: most contemporary AI chat systems, such as GPT, Gemini, and Claude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maintain persistent user context across sessions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Once a conversation ends, the system effectively resets, and subsequent interactions begin without prior knowledge of the user. </a:t>
            </a:r>
          </a:p>
          <a:p>
            <a:pPr marL="457200" indent="-457200"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this stateless design is acceptable for many short, task-oriented queries, it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becomes a significant limitation for long-term applications such as mental health support, academic mentorship, or personal productivity coaching.</a:t>
            </a:r>
          </a:p>
          <a:p>
            <a:pPr marL="457200" indent="-457200"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these scenarios,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persistent context forces users to repeatedly restate their background, goals, and preferences, reducing efficiency and continuity in the interaction.</a:t>
            </a:r>
            <a:endParaRPr lang="en-IN" sz="2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 descr="{&quot;o11&quot;: {&quot;isO11Modified&quot;: true}}"/>
          <p:cNvSpPr txBox="1"/>
          <p:nvPr/>
        </p:nvSpPr>
        <p:spPr>
          <a:xfrm>
            <a:off x="1346404" y="339518"/>
            <a:ext cx="468981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PROBLEM STATEMENT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 descr="{&quot;o11&quot;: {&quot;isO11Modified&quot;: true}}"/>
          <p:cNvSpPr/>
          <p:nvPr/>
        </p:nvSpPr>
        <p:spPr>
          <a:xfrm>
            <a:off x="635000" y="64135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2" name="Picture 31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Box 32"/>
          <p:cNvSpPr txBox="1"/>
          <p:nvPr/>
        </p:nvSpPr>
        <p:spPr>
          <a:xfrm>
            <a:off x="0" y="1365639"/>
            <a:ext cx="12192000" cy="355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IN" sz="22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MIRYN AI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technologically advanced attempt to fix the discussed research gaps. The system stores a semantic memory of past conversations and maintains a versioned profile of the user that gets updated after every session. When you come back, it already knows the context. </a:t>
            </a:r>
          </a:p>
          <a:p>
            <a:pPr marL="457200" indent="-457200"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technical approach combines </a:t>
            </a:r>
            <a:r>
              <a:rPr lang="en-IN" sz="22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Retrieval-Augmented Generation (RAG)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[8] with a hybrid </a:t>
            </a:r>
            <a:r>
              <a:rPr lang="en-IN" sz="22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Chroma DB + PostgreSQL storage layer, a versioned Identity Engine, and machine learning models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sentiment analysis and memory prioritisation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full stack runs on Next.js, </a:t>
            </a:r>
            <a:r>
              <a:rPr lang="en-IN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the Gemini API. Eight peer-reviewed papers from IEEE, ACM, and </a:t>
            </a:r>
            <a:r>
              <a:rPr lang="en-IN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informed the design decisions.</a:t>
            </a:r>
          </a:p>
        </p:txBody>
      </p:sp>
      <p:sp>
        <p:nvSpPr>
          <p:cNvPr id="9" name="TextBox 8" descr="{&quot;o11&quot;: {&quot;isO11Modified&quot;: true}}"/>
          <p:cNvSpPr txBox="1"/>
          <p:nvPr/>
        </p:nvSpPr>
        <p:spPr>
          <a:xfrm>
            <a:off x="1346404" y="339518"/>
            <a:ext cx="854849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PROBLEM STATEMENT AND DESCRIPTION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 descr="{&quot;o11&quot;: {&quot;isO11Modified&quot;: true}}"/>
          <p:cNvSpPr/>
          <p:nvPr/>
        </p:nvSpPr>
        <p:spPr>
          <a:xfrm>
            <a:off x="635000" y="64135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2" name="Picture 31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 descr="{&quot;o11&quot;: {&quot;isO11Modified&quot;: true}}"/>
          <p:cNvSpPr txBox="1"/>
          <p:nvPr/>
        </p:nvSpPr>
        <p:spPr>
          <a:xfrm>
            <a:off x="1346404" y="339518"/>
            <a:ext cx="854849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PROBLEM STATEMENT AND DESCRIPTION</a:t>
            </a:r>
            <a:endParaRPr sz="38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315690"/>
            <a:ext cx="12160469" cy="3603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be specific about what we are solving, current AI systems have five concrete limitations that this project targets:</a:t>
            </a:r>
          </a:p>
          <a:p>
            <a:pPr marL="457200" lvl="0" indent="-457200" algn="just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session-to-session memory: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users have to re-establish context every time they start a new conversation.</a:t>
            </a:r>
          </a:p>
          <a:p>
            <a:pPr marL="457200" lvl="0" indent="-457200" algn="just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returning-user recognition: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system treats every session as a first meeting.</a:t>
            </a:r>
          </a:p>
          <a:p>
            <a:pPr marL="457200" lvl="0" indent="-457200" algn="just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emotional continuity: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sentiment patterns across sessions are never tracked.</a:t>
            </a:r>
          </a:p>
          <a:p>
            <a:pPr marL="457200" lvl="0" indent="-457200" algn="just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accumulated understanding of the user: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preferences, history, and patterns are lost.</a:t>
            </a:r>
          </a:p>
          <a:p>
            <a:pPr marL="457200" lvl="0" indent="-457200" algn="just">
              <a:spcBef>
                <a:spcPts val="2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sz="2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unified open framework: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memory, identity, and response generation are not integrated in any existing open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descr="{&quot;o11&quot;: {&quot;isO11Modified&quot;: true}}"/>
          <p:cNvSpPr txBox="1"/>
          <p:nvPr/>
        </p:nvSpPr>
        <p:spPr>
          <a:xfrm>
            <a:off x="635000" y="1333500"/>
            <a:ext cx="1092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conversational AI systems — including GPT-4, Claude, and Gemini — are stateless by default. Every session starts with zero memory of the user. There is no emotional continuity, no identity persistence, and no cross-session learning. This fundamentally limits the depth and utility of AI in long-term personal and professional contexts.</a:t>
            </a:r>
          </a:p>
        </p:txBody>
      </p:sp>
      <p:sp>
        <p:nvSpPr>
          <p:cNvPr id="6" name="Rectangle 5" descr="{&quot;o11&quot;: {&quot;isO11Modified&quot;: true}}"/>
          <p:cNvSpPr/>
          <p:nvPr/>
        </p:nvSpPr>
        <p:spPr>
          <a:xfrm>
            <a:off x="635000" y="2349500"/>
            <a:ext cx="3471333" cy="3556000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 descr="{&quot;o11&quot;: {&quot;isO11Modified&quot;: true}}"/>
          <p:cNvSpPr/>
          <p:nvPr/>
        </p:nvSpPr>
        <p:spPr>
          <a:xfrm>
            <a:off x="635000" y="2349500"/>
            <a:ext cx="3471333" cy="304800"/>
          </a:xfrm>
          <a:prstGeom prst="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Book" panose="020B0503020102020204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8" name="Rectangle 7" descr="{&quot;o11&quot;: {&quot;isO11Modified&quot;: true}}"/>
          <p:cNvSpPr/>
          <p:nvPr/>
        </p:nvSpPr>
        <p:spPr>
          <a:xfrm>
            <a:off x="635000" y="2349500"/>
            <a:ext cx="3471333" cy="38100"/>
          </a:xfrm>
          <a:prstGeom prst="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 descr="{&quot;o11&quot;: {&quot;isO11Modified&quot;: true}}"/>
          <p:cNvSpPr txBox="1"/>
          <p:nvPr/>
        </p:nvSpPr>
        <p:spPr>
          <a:xfrm>
            <a:off x="761997" y="2997200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Session-bound AI: memory wipes after every conversation</a:t>
            </a:r>
          </a:p>
        </p:txBody>
      </p:sp>
      <p:sp>
        <p:nvSpPr>
          <p:cNvPr id="10" name="TextBox 9" descr="{&quot;o11&quot;: {&quot;isO11Modified&quot;: true}}"/>
          <p:cNvSpPr txBox="1"/>
          <p:nvPr/>
        </p:nvSpPr>
        <p:spPr>
          <a:xfrm>
            <a:off x="762000" y="3521964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recognition of returning users</a:t>
            </a:r>
          </a:p>
        </p:txBody>
      </p:sp>
      <p:sp>
        <p:nvSpPr>
          <p:cNvPr id="11" name="TextBox 10" descr="{&quot;o11&quot;: {&quot;isO11Modified&quot;: true}}"/>
          <p:cNvSpPr txBox="1"/>
          <p:nvPr/>
        </p:nvSpPr>
        <p:spPr>
          <a:xfrm>
            <a:off x="761999" y="4046728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accumulation of contextual knowledge</a:t>
            </a:r>
          </a:p>
        </p:txBody>
      </p:sp>
      <p:sp>
        <p:nvSpPr>
          <p:cNvPr id="12" name="TextBox 11" descr="{&quot;o11&quot;: {&quot;isO11Modified&quot;: true}}"/>
          <p:cNvSpPr txBox="1"/>
          <p:nvPr/>
        </p:nvSpPr>
        <p:spPr>
          <a:xfrm>
            <a:off x="761998" y="4571492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repetitive, shallow, impersonal interactions</a:t>
            </a:r>
          </a:p>
        </p:txBody>
      </p:sp>
      <p:sp>
        <p:nvSpPr>
          <p:cNvPr id="13" name="Rectangle 12" descr="{&quot;o11&quot;: {&quot;isO11Modified&quot;: true}}"/>
          <p:cNvSpPr/>
          <p:nvPr/>
        </p:nvSpPr>
        <p:spPr>
          <a:xfrm>
            <a:off x="4360333" y="2349500"/>
            <a:ext cx="3471333" cy="3556000"/>
          </a:xfrm>
          <a:prstGeom prst="rect">
            <a:avLst/>
          </a:prstGeom>
          <a:solidFill>
            <a:srgbClr val="FFFBE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 descr="{&quot;o11&quot;: {&quot;isO11Modified&quot;: true}}"/>
          <p:cNvSpPr/>
          <p:nvPr/>
        </p:nvSpPr>
        <p:spPr>
          <a:xfrm>
            <a:off x="4360333" y="2349500"/>
            <a:ext cx="3471333" cy="304800"/>
          </a:xfrm>
          <a:prstGeom prst="rect">
            <a:avLst/>
          </a:prstGeom>
          <a:solidFill>
            <a:srgbClr val="E6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Book" panose="020B0503020102020204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 IN RESEARCH</a:t>
            </a:r>
          </a:p>
        </p:txBody>
      </p:sp>
      <p:sp>
        <p:nvSpPr>
          <p:cNvPr id="15" name="Rectangle 14" descr="{&quot;o11&quot;: {&quot;isO11Modified&quot;: true}}"/>
          <p:cNvSpPr/>
          <p:nvPr/>
        </p:nvSpPr>
        <p:spPr>
          <a:xfrm>
            <a:off x="4360333" y="2349500"/>
            <a:ext cx="3471333" cy="38100"/>
          </a:xfrm>
          <a:prstGeom prst="rect">
            <a:avLst/>
          </a:prstGeom>
          <a:solidFill>
            <a:srgbClr val="E6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 descr="{&quot;o11&quot;: {&quot;isO11Modified&quot;: true}}"/>
          <p:cNvSpPr txBox="1"/>
          <p:nvPr/>
        </p:nvSpPr>
        <p:spPr>
          <a:xfrm>
            <a:off x="4487333" y="2965450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literature focuses on single-session chatbots</a:t>
            </a:r>
          </a:p>
        </p:txBody>
      </p:sp>
      <p:sp>
        <p:nvSpPr>
          <p:cNvPr id="17" name="TextBox 16" descr="{&quot;o11&quot;: {&quot;isO11Modified&quot;: true}}"/>
          <p:cNvSpPr txBox="1"/>
          <p:nvPr/>
        </p:nvSpPr>
        <p:spPr>
          <a:xfrm>
            <a:off x="4487333" y="3678259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continuity largely unexplored in LLM systems</a:t>
            </a:r>
          </a:p>
        </p:txBody>
      </p:sp>
      <p:sp>
        <p:nvSpPr>
          <p:cNvPr id="18" name="TextBox 17" descr="{&quot;o11&quot;: {&quot;isO11Modified&quot;: true}}"/>
          <p:cNvSpPr txBox="1"/>
          <p:nvPr/>
        </p:nvSpPr>
        <p:spPr>
          <a:xfrm>
            <a:off x="4487333" y="4391068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tracking absent from current AI architectures</a:t>
            </a:r>
          </a:p>
        </p:txBody>
      </p:sp>
      <p:sp>
        <p:nvSpPr>
          <p:cNvPr id="19" name="TextBox 18" descr="{&quot;o11&quot;: {&quot;isO11Modified&quot;: true}}"/>
          <p:cNvSpPr txBox="1"/>
          <p:nvPr/>
        </p:nvSpPr>
        <p:spPr>
          <a:xfrm>
            <a:off x="4487333" y="5103876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framework for memory + identity + reflection</a:t>
            </a:r>
          </a:p>
        </p:txBody>
      </p:sp>
      <p:sp>
        <p:nvSpPr>
          <p:cNvPr id="20" name="Rectangle 19" descr="{&quot;o11&quot;: {&quot;isO11Modified&quot;: true}}"/>
          <p:cNvSpPr/>
          <p:nvPr/>
        </p:nvSpPr>
        <p:spPr>
          <a:xfrm>
            <a:off x="8085666" y="2349500"/>
            <a:ext cx="3471333" cy="355600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 descr="{&quot;o11&quot;: {&quot;isO11Modified&quot;: true}}"/>
          <p:cNvSpPr/>
          <p:nvPr/>
        </p:nvSpPr>
        <p:spPr>
          <a:xfrm>
            <a:off x="8085666" y="2349500"/>
            <a:ext cx="3471333" cy="304800"/>
          </a:xfrm>
          <a:prstGeom prst="rect">
            <a:avLst/>
          </a:prstGeom>
          <a:solidFill>
            <a:srgbClr val="2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Book" panose="020B0503020102020204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OPPORTUNITY</a:t>
            </a:r>
          </a:p>
        </p:txBody>
      </p:sp>
      <p:sp>
        <p:nvSpPr>
          <p:cNvPr id="22" name="Rectangle 21" descr="{&quot;o11&quot;: {&quot;isO11Modified&quot;: true}}"/>
          <p:cNvSpPr/>
          <p:nvPr/>
        </p:nvSpPr>
        <p:spPr>
          <a:xfrm>
            <a:off x="8085666" y="2349500"/>
            <a:ext cx="3471333" cy="38100"/>
          </a:xfrm>
          <a:prstGeom prst="rect">
            <a:avLst/>
          </a:prstGeom>
          <a:solidFill>
            <a:srgbClr val="2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 descr="{&quot;o11&quot;: {&quot;isO11Modified&quot;: true}}"/>
          <p:cNvSpPr txBox="1"/>
          <p:nvPr/>
        </p:nvSpPr>
        <p:spPr>
          <a:xfrm>
            <a:off x="8212666" y="2895600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enables dynamic, persistent semantic memory retrieval</a:t>
            </a:r>
          </a:p>
        </p:txBody>
      </p:sp>
      <p:sp>
        <p:nvSpPr>
          <p:cNvPr id="24" name="TextBox 23" descr="{&quot;o11&quot;: {&quot;isO11Modified&quot;: true}}"/>
          <p:cNvSpPr txBox="1"/>
          <p:nvPr/>
        </p:nvSpPr>
        <p:spPr>
          <a:xfrm>
            <a:off x="8212666" y="3615267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can track user identity drift over time</a:t>
            </a:r>
          </a:p>
        </p:txBody>
      </p:sp>
      <p:sp>
        <p:nvSpPr>
          <p:cNvPr id="25" name="TextBox 24" descr="{&quot;o11&quot;: {&quot;isO11Modified&quot;: true}}"/>
          <p:cNvSpPr txBox="1"/>
          <p:nvPr/>
        </p:nvSpPr>
        <p:spPr>
          <a:xfrm>
            <a:off x="8212665" y="4334934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architecture can unify memory + identity layers</a:t>
            </a:r>
          </a:p>
        </p:txBody>
      </p:sp>
      <p:sp>
        <p:nvSpPr>
          <p:cNvPr id="26" name="TextBox 25" descr="{&quot;o11&quot;: {&quot;isO11Modified&quot;: true}}"/>
          <p:cNvSpPr txBox="1"/>
          <p:nvPr/>
        </p:nvSpPr>
        <p:spPr>
          <a:xfrm>
            <a:off x="8212666" y="5054600"/>
            <a:ext cx="3217333" cy="482600"/>
          </a:xfrm>
          <a:prstGeom prst="rect">
            <a:avLst/>
          </a:prstGeom>
          <a:noFill/>
        </p:spPr>
        <p:txBody>
          <a:bodyPr wrap="square" lIns="228600" tIns="25400" rIns="63500" bIns="2540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MIRYN AI fills this gap as an open extensible framework</a:t>
            </a:r>
          </a:p>
        </p:txBody>
      </p:sp>
      <p:sp>
        <p:nvSpPr>
          <p:cNvPr id="27" name="TextBox 26" descr="{&quot;o11&quot;: {&quot;isO11Modified&quot;: true}}"/>
          <p:cNvSpPr txBox="1"/>
          <p:nvPr/>
        </p:nvSpPr>
        <p:spPr>
          <a:xfrm>
            <a:off x="635000" y="6032500"/>
            <a:ext cx="55983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confirmed by [3] Kusal et al., 2022 (IEEE Access)</a:t>
            </a:r>
          </a:p>
        </p:txBody>
      </p:sp>
      <p:sp>
        <p:nvSpPr>
          <p:cNvPr id="28" name="Rectangle 27" descr="{&quot;o11&quot;: {&quot;isO11Modified&quot;: true}}"/>
          <p:cNvSpPr/>
          <p:nvPr/>
        </p:nvSpPr>
        <p:spPr>
          <a:xfrm>
            <a:off x="635000" y="64135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2" name="Picture 31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TextBox 32" descr="{&quot;o11&quot;: {&quot;isO11Modified&quot;: true}}"/>
          <p:cNvSpPr txBox="1"/>
          <p:nvPr/>
        </p:nvSpPr>
        <p:spPr>
          <a:xfrm>
            <a:off x="1346404" y="339518"/>
            <a:ext cx="854849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PROBLEM STATEMENT AND DESCRIPTION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501515" y="219248"/>
            <a:ext cx="11188970" cy="679103"/>
            <a:chOff x="501515" y="337523"/>
            <a:chExt cx="11188970" cy="679103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28" name="Picture 27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 descr="{&quot;o11&quot;: {&quot;isO11Modified&quot;: true}}"/>
          <p:cNvSpPr txBox="1"/>
          <p:nvPr/>
        </p:nvSpPr>
        <p:spPr>
          <a:xfrm>
            <a:off x="3440528" y="725219"/>
            <a:ext cx="48290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2000" dirty="0"/>
              <a:t>Peer-Reviewed IEEE Papers — Last 5 Years</a:t>
            </a:r>
          </a:p>
        </p:txBody>
      </p:sp>
      <p:sp>
        <p:nvSpPr>
          <p:cNvPr id="5" name="Rectangle 4" descr="{&quot;o11&quot;: {&quot;isO11Modified&quot;: true}}"/>
          <p:cNvSpPr/>
          <p:nvPr/>
        </p:nvSpPr>
        <p:spPr>
          <a:xfrm>
            <a:off x="635000" y="1270000"/>
            <a:ext cx="109220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 descr="{&quot;o11&quot;: {&quot;isO11Modified&quot;: true}}"/>
          <p:cNvSpPr/>
          <p:nvPr/>
        </p:nvSpPr>
        <p:spPr>
          <a:xfrm>
            <a:off x="635000" y="1270000"/>
            <a:ext cx="50800" cy="9144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 descr="{&quot;o11&quot;: {&quot;isO11Modified&quot;: true}}"/>
          <p:cNvSpPr/>
          <p:nvPr/>
        </p:nvSpPr>
        <p:spPr>
          <a:xfrm>
            <a:off x="825500" y="1587500"/>
            <a:ext cx="279400" cy="279400"/>
          </a:xfrm>
          <a:prstGeom prst="ellipse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1</a:t>
            </a:r>
          </a:p>
        </p:txBody>
      </p:sp>
      <p:sp>
        <p:nvSpPr>
          <p:cNvPr id="8" name="TextBox 7" descr="{&quot;o11&quot;: {&quot;isO11Modified&quot;: true}}"/>
          <p:cNvSpPr txBox="1"/>
          <p:nvPr/>
        </p:nvSpPr>
        <p:spPr>
          <a:xfrm>
            <a:off x="1295400" y="1320800"/>
            <a:ext cx="1000760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Mehta, S. Gupta, A. Kumar — 'AI Powered Chatbot for Mental Healthcare based on Sentiment Analysis' — IEEE ICAST 2022 —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10.1109/ICAST55766.2022.10039548</a:t>
            </a:r>
          </a:p>
          <a:p>
            <a:pPr>
              <a:spcBef>
                <a:spcPts val="200"/>
              </a:spcBef>
              <a:defRPr sz="800" i="1">
                <a:solidFill>
                  <a:srgbClr val="999999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Sentiment-driven chatbot achieves 87% user satisfaction in mental health support.</a:t>
            </a:r>
          </a:p>
          <a:p>
            <a:pPr>
              <a:spcBef>
                <a:spcPts val="100"/>
              </a:spcBef>
              <a:defRPr sz="800" i="1">
                <a:solidFill>
                  <a:srgbClr val="002D72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Validates NLP sentiment analysis as foundation for MIRYN’s Sentiment Drift Index.</a:t>
            </a:r>
          </a:p>
        </p:txBody>
      </p:sp>
      <p:sp>
        <p:nvSpPr>
          <p:cNvPr id="9" name="Rectangle 8" descr="{&quot;o11&quot;: {&quot;isO11Modified&quot;: true}}"/>
          <p:cNvSpPr/>
          <p:nvPr/>
        </p:nvSpPr>
        <p:spPr>
          <a:xfrm>
            <a:off x="635000" y="2311400"/>
            <a:ext cx="109220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 descr="{&quot;o11&quot;: {&quot;isO11Modified&quot;: true}}"/>
          <p:cNvSpPr/>
          <p:nvPr/>
        </p:nvSpPr>
        <p:spPr>
          <a:xfrm>
            <a:off x="635000" y="2311400"/>
            <a:ext cx="50800" cy="9144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 descr="{&quot;o11&quot;: {&quot;isO11Modified&quot;: true}}"/>
          <p:cNvSpPr/>
          <p:nvPr/>
        </p:nvSpPr>
        <p:spPr>
          <a:xfrm>
            <a:off x="825500" y="2628900"/>
            <a:ext cx="279400" cy="279400"/>
          </a:xfrm>
          <a:prstGeom prst="ellipse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2</a:t>
            </a:r>
          </a:p>
        </p:txBody>
      </p:sp>
      <p:sp>
        <p:nvSpPr>
          <p:cNvPr id="12" name="TextBox 11" descr="{&quot;o11&quot;: {&quot;isO11Modified&quot;: true}}"/>
          <p:cNvSpPr txBox="1"/>
          <p:nvPr/>
        </p:nvSpPr>
        <p:spPr>
          <a:xfrm>
            <a:off x="1295400" y="2362200"/>
            <a:ext cx="1000760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D. Madhu, N. Nair, V. Jain — 'A Novel Approach for stress and mental health using chatbot' — IEEE ICCCNT 2021 — doi: 10.1109/ICCCNT51525.2021.9579745</a:t>
            </a:r>
          </a:p>
          <a:p>
            <a:pPr>
              <a:spcBef>
                <a:spcPts val="200"/>
              </a:spcBef>
              <a:defRPr sz="800" i="1">
                <a:solidFill>
                  <a:srgbClr val="999999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Conversational AI significantly reduces self-reported stress scores.</a:t>
            </a:r>
          </a:p>
          <a:p>
            <a:pPr>
              <a:spcBef>
                <a:spcPts val="100"/>
              </a:spcBef>
              <a:defRPr sz="800" i="1">
                <a:solidFill>
                  <a:srgbClr val="002D72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Demonstrates effectiveness of AI emotional support — MIRYN extends with persistent tracking.</a:t>
            </a:r>
          </a:p>
        </p:txBody>
      </p:sp>
      <p:sp>
        <p:nvSpPr>
          <p:cNvPr id="13" name="Rectangle 12" descr="{&quot;o11&quot;: {&quot;isO11Modified&quot;: true}}"/>
          <p:cNvSpPr/>
          <p:nvPr/>
        </p:nvSpPr>
        <p:spPr>
          <a:xfrm>
            <a:off x="635000" y="3352800"/>
            <a:ext cx="109220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 descr="{&quot;o11&quot;: {&quot;isO11Modified&quot;: true}}"/>
          <p:cNvSpPr/>
          <p:nvPr/>
        </p:nvSpPr>
        <p:spPr>
          <a:xfrm>
            <a:off x="635000" y="3352800"/>
            <a:ext cx="50800" cy="9144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 descr="{&quot;o11&quot;: {&quot;isO11Modified&quot;: true}}"/>
          <p:cNvSpPr/>
          <p:nvPr/>
        </p:nvSpPr>
        <p:spPr>
          <a:xfrm>
            <a:off x="825500" y="3670300"/>
            <a:ext cx="279400" cy="279400"/>
          </a:xfrm>
          <a:prstGeom prst="ellipse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3</a:t>
            </a:r>
          </a:p>
        </p:txBody>
      </p:sp>
      <p:sp>
        <p:nvSpPr>
          <p:cNvPr id="16" name="TextBox 15" descr="{&quot;o11&quot;: {&quot;isO11Modified&quot;: true}}"/>
          <p:cNvSpPr txBox="1"/>
          <p:nvPr/>
        </p:nvSpPr>
        <p:spPr>
          <a:xfrm>
            <a:off x="1295400" y="3403600"/>
            <a:ext cx="1000760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S. Kusal, S. Patil, J. Choudrie — 'AI-Based Conversational Agents: A Scoping Review from 2010 to 2022' — IEEE Access, vol. 10, 2022 — doi: 10.1109/ACCESS.2022.3203474</a:t>
            </a:r>
          </a:p>
          <a:p>
            <a:pPr>
              <a:spcBef>
                <a:spcPts val="200"/>
              </a:spcBef>
              <a:defRPr sz="800" i="1">
                <a:solidFill>
                  <a:srgbClr val="999999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Reviews 120+ chatbots; identifies memory loss and impersonalization as critical unresolved gaps.</a:t>
            </a:r>
          </a:p>
          <a:p>
            <a:pPr>
              <a:spcBef>
                <a:spcPts val="100"/>
              </a:spcBef>
              <a:defRPr sz="800" i="1">
                <a:solidFill>
                  <a:srgbClr val="002D72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Core motivation paper — MIRYN directly addresses the #1 identified gap.</a:t>
            </a:r>
          </a:p>
        </p:txBody>
      </p:sp>
      <p:sp>
        <p:nvSpPr>
          <p:cNvPr id="17" name="Rectangle 16" descr="{&quot;o11&quot;: {&quot;isO11Modified&quot;: true}}"/>
          <p:cNvSpPr/>
          <p:nvPr/>
        </p:nvSpPr>
        <p:spPr>
          <a:xfrm>
            <a:off x="635000" y="4394200"/>
            <a:ext cx="109220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 descr="{&quot;o11&quot;: {&quot;isO11Modified&quot;: true}}"/>
          <p:cNvSpPr/>
          <p:nvPr/>
        </p:nvSpPr>
        <p:spPr>
          <a:xfrm>
            <a:off x="635000" y="4394200"/>
            <a:ext cx="50800" cy="9144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 descr="{&quot;o11&quot;: {&quot;isO11Modified&quot;: true}}"/>
          <p:cNvSpPr/>
          <p:nvPr/>
        </p:nvSpPr>
        <p:spPr>
          <a:xfrm>
            <a:off x="825500" y="4711700"/>
            <a:ext cx="279400" cy="279400"/>
          </a:xfrm>
          <a:prstGeom prst="ellipse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4</a:t>
            </a:r>
          </a:p>
        </p:txBody>
      </p:sp>
      <p:sp>
        <p:nvSpPr>
          <p:cNvPr id="20" name="TextBox 19" descr="{&quot;o11&quot;: {&quot;isO11Modified&quot;: true}}"/>
          <p:cNvSpPr txBox="1"/>
          <p:nvPr/>
        </p:nvSpPr>
        <p:spPr>
          <a:xfrm>
            <a:off x="1295400" y="4445000"/>
            <a:ext cx="100076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V. Gupta, V. Joshi, A. Jain, I. Garg — 'Chatbot for Mental Health Support Using NLP' — IEEE INCET 2023 — doi: 10.1109/INCET57972.2023.10170573</a:t>
            </a:r>
          </a:p>
          <a:p>
            <a:pPr>
              <a:spcBef>
                <a:spcPts val="200"/>
              </a:spcBef>
              <a:defRPr sz="800" i="1">
                <a:solidFill>
                  <a:srgbClr val="999999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NLP-based chatbot with intent classification achieves high accuracy in mental health query handling.</a:t>
            </a:r>
          </a:p>
          <a:p>
            <a:pPr>
              <a:spcBef>
                <a:spcPts val="100"/>
              </a:spcBef>
              <a:defRPr sz="800" i="1">
                <a:solidFill>
                  <a:srgbClr val="002D72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NLP preprocessing pipeline directly adopted in MIRYN’s Phase 1 architecture.</a:t>
            </a:r>
          </a:p>
        </p:txBody>
      </p:sp>
      <p:sp>
        <p:nvSpPr>
          <p:cNvPr id="21" name="Rectangle 20" descr="{&quot;o11&quot;: {&quot;isO11Modified&quot;: true}}"/>
          <p:cNvSpPr/>
          <p:nvPr/>
        </p:nvSpPr>
        <p:spPr>
          <a:xfrm>
            <a:off x="635000" y="5435600"/>
            <a:ext cx="109220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 descr="{&quot;o11&quot;: {&quot;isO11Modified&quot;: true}}"/>
          <p:cNvSpPr/>
          <p:nvPr/>
        </p:nvSpPr>
        <p:spPr>
          <a:xfrm>
            <a:off x="635000" y="5435600"/>
            <a:ext cx="50800" cy="9144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 descr="{&quot;o11&quot;: {&quot;isO11Modified&quot;: true}}"/>
          <p:cNvSpPr/>
          <p:nvPr/>
        </p:nvSpPr>
        <p:spPr>
          <a:xfrm>
            <a:off x="825500" y="5753100"/>
            <a:ext cx="279400" cy="279400"/>
          </a:xfrm>
          <a:prstGeom prst="ellipse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5</a:t>
            </a:r>
          </a:p>
        </p:txBody>
      </p:sp>
      <p:sp>
        <p:nvSpPr>
          <p:cNvPr id="24" name="TextBox 23" descr="{&quot;o11&quot;: {&quot;isO11Modified&quot;: true}}"/>
          <p:cNvSpPr txBox="1"/>
          <p:nvPr/>
        </p:nvSpPr>
        <p:spPr>
          <a:xfrm>
            <a:off x="1295400" y="5486400"/>
            <a:ext cx="1000760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K. Rani, H. Vishnoi, M. Mishra — 'Mental Health Chatbot Delivering CBT using NLP and AI' — IEEE ICDT 2023 — doi: 10.1109/ICDT57929.2023.10150665</a:t>
            </a:r>
          </a:p>
          <a:p>
            <a:pPr>
              <a:spcBef>
                <a:spcPts val="200"/>
              </a:spcBef>
              <a:defRPr sz="800" i="1">
                <a:solidFill>
                  <a:srgbClr val="999999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CBT-based chatbot with AI adapts therapy delivery based on user responses.</a:t>
            </a:r>
          </a:p>
          <a:p>
            <a:pPr>
              <a:spcBef>
                <a:spcPts val="100"/>
              </a:spcBef>
              <a:defRPr sz="800" i="1">
                <a:solidFill>
                  <a:srgbClr val="002D72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Adaptive response delivery pattern informs MIRYN’s 4 personality mode system.</a:t>
            </a:r>
          </a:p>
        </p:txBody>
      </p:sp>
      <p:sp>
        <p:nvSpPr>
          <p:cNvPr id="25" name="TextBox 24" descr="{&quot;o11&quot;: {&quot;isO11Modified&quot;: true}}"/>
          <p:cNvSpPr txBox="1"/>
          <p:nvPr/>
        </p:nvSpPr>
        <p:spPr>
          <a:xfrm>
            <a:off x="635000" y="6477000"/>
            <a:ext cx="10922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99999"/>
                </a:solidFill>
                <a:latin typeface="Franklin Gothic Book" panose="020B0503020102020204"/>
              </a:defRPr>
            </a:pPr>
            <a:r>
              <a:t>Group BTCSE-86 | DIT University | Citations via Zotero | IEEE Format</a:t>
            </a:r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1295400" y="270819"/>
            <a:ext cx="359149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RELATED WORKS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0" name="Picture 29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 descr="{&quot;o11&quot;: {&quot;isO11Modified&quot;: true}}"/>
          <p:cNvSpPr txBox="1"/>
          <p:nvPr/>
        </p:nvSpPr>
        <p:spPr>
          <a:xfrm>
            <a:off x="2794880" y="819090"/>
            <a:ext cx="66530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2000" dirty="0"/>
              <a:t>2 ACM Review Papers + 1 Foundational </a:t>
            </a:r>
            <a:r>
              <a:rPr sz="2000" dirty="0" err="1"/>
              <a:t>NeurIPS</a:t>
            </a:r>
            <a:r>
              <a:rPr sz="2000" dirty="0"/>
              <a:t> Reference</a:t>
            </a:r>
          </a:p>
        </p:txBody>
      </p:sp>
      <p:sp>
        <p:nvSpPr>
          <p:cNvPr id="5" name="Rectangle 4" descr="{&quot;o11&quot;: {&quot;isO11Modified&quot;: true}}"/>
          <p:cNvSpPr/>
          <p:nvPr/>
        </p:nvSpPr>
        <p:spPr>
          <a:xfrm>
            <a:off x="635000" y="1206500"/>
            <a:ext cx="10922000" cy="14605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 descr="{&quot;o11&quot;: {&quot;isO11Modified&quot;: true}}"/>
          <p:cNvSpPr/>
          <p:nvPr/>
        </p:nvSpPr>
        <p:spPr>
          <a:xfrm>
            <a:off x="635000" y="1206500"/>
            <a:ext cx="50800" cy="1460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 descr="{&quot;o11&quot;: {&quot;isO11Modified&quot;: true}}"/>
          <p:cNvSpPr/>
          <p:nvPr/>
        </p:nvSpPr>
        <p:spPr>
          <a:xfrm>
            <a:off x="825500" y="1333500"/>
            <a:ext cx="444500" cy="2286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[6]</a:t>
            </a:r>
          </a:p>
        </p:txBody>
      </p:sp>
      <p:sp>
        <p:nvSpPr>
          <p:cNvPr id="8" name="TextBox 7" descr="{&quot;o11&quot;: {&quot;isO11Modified&quot;: true}}"/>
          <p:cNvSpPr txBox="1"/>
          <p:nvPr/>
        </p:nvSpPr>
        <p:spPr>
          <a:xfrm>
            <a:off x="1397000" y="1320800"/>
            <a:ext cx="990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T. Koulouri, S. Lesta, D. Arnab — ACM Transactions on Interactive Intelligent Systems (TIIS), Vol. 12, 2022 — doi: 10.1145/3485874</a:t>
            </a:r>
          </a:p>
        </p:txBody>
      </p:sp>
      <p:sp>
        <p:nvSpPr>
          <p:cNvPr id="9" name="TextBox 8" descr="{&quot;o11&quot;: {&quot;isO11Modified&quot;: true}}"/>
          <p:cNvSpPr txBox="1"/>
          <p:nvPr/>
        </p:nvSpPr>
        <p:spPr>
          <a:xfrm>
            <a:off x="825500" y="1600200"/>
            <a:ext cx="68315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'Chatbots to Support Young Adults Mental Health and Wellbeing: Design and Evaluation Challenges'</a:t>
            </a:r>
          </a:p>
        </p:txBody>
      </p:sp>
      <p:sp>
        <p:nvSpPr>
          <p:cNvPr id="10" name="TextBox 9" descr="{&quot;o11&quot;: {&quot;isO11Modified&quot;: true}}"/>
          <p:cNvSpPr txBox="1"/>
          <p:nvPr/>
        </p:nvSpPr>
        <p:spPr>
          <a:xfrm>
            <a:off x="825500" y="1879600"/>
            <a:ext cx="1054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</a:t>
            </a: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Chatbot acceptability for mental health is high among youth; however emotional depth, contextual continuity, and personalization remain major barriers to real-world adoption.</a:t>
            </a:r>
          </a:p>
        </p:txBody>
      </p:sp>
      <p:sp>
        <p:nvSpPr>
          <p:cNvPr id="11" name="TextBox 10" descr="{&quot;o11&quot;: {&quot;isO11Modified&quot;: true}}"/>
          <p:cNvSpPr txBox="1"/>
          <p:nvPr/>
        </p:nvSpPr>
        <p:spPr>
          <a:xfrm>
            <a:off x="825500" y="2260600"/>
            <a:ext cx="10541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66666"/>
                </a:solidFill>
                <a:latin typeface="Franklin Gothic Book" panose="020B0503020102020204"/>
              </a:defRPr>
            </a:pPr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</a:t>
            </a:r>
            <a:r>
              <a:rPr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Directly validates MIRYN’s core thesis — continuity and emotional depth are the missing layers in current AI systems.</a:t>
            </a:r>
          </a:p>
        </p:txBody>
      </p:sp>
      <p:sp>
        <p:nvSpPr>
          <p:cNvPr id="12" name="Rectangle 11" descr="{&quot;o11&quot;: {&quot;isO11Modified&quot;: true}}"/>
          <p:cNvSpPr/>
          <p:nvPr/>
        </p:nvSpPr>
        <p:spPr>
          <a:xfrm>
            <a:off x="635000" y="2857500"/>
            <a:ext cx="10922000" cy="14605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 descr="{&quot;o11&quot;: {&quot;isO11Modified&quot;: true}}"/>
          <p:cNvSpPr/>
          <p:nvPr/>
        </p:nvSpPr>
        <p:spPr>
          <a:xfrm>
            <a:off x="635000" y="2857500"/>
            <a:ext cx="50800" cy="1460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 descr="{&quot;o11&quot;: {&quot;isO11Modified&quot;: true}}"/>
          <p:cNvSpPr/>
          <p:nvPr/>
        </p:nvSpPr>
        <p:spPr>
          <a:xfrm>
            <a:off x="825500" y="2984500"/>
            <a:ext cx="444500" cy="2286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[7]</a:t>
            </a:r>
          </a:p>
        </p:txBody>
      </p:sp>
      <p:sp>
        <p:nvSpPr>
          <p:cNvPr id="15" name="TextBox 14" descr="{&quot;o11&quot;: {&quot;isO11Modified&quot;: true}}"/>
          <p:cNvSpPr txBox="1"/>
          <p:nvPr/>
        </p:nvSpPr>
        <p:spPr>
          <a:xfrm>
            <a:off x="1397000" y="2971800"/>
            <a:ext cx="990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Multiple Authors — ACM Transactions on Management Information Systems (TMIS), 2024 — doi: 10.1145/3701041</a:t>
            </a:r>
          </a:p>
        </p:txBody>
      </p:sp>
      <p:sp>
        <p:nvSpPr>
          <p:cNvPr id="16" name="TextBox 15" descr="{&quot;o11&quot;: {&quot;isO11Modified&quot;: true}}"/>
          <p:cNvSpPr txBox="1"/>
          <p:nvPr/>
        </p:nvSpPr>
        <p:spPr>
          <a:xfrm>
            <a:off x="825500" y="3251200"/>
            <a:ext cx="62749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'LLM-Based Mental Health Chatbots: A Systematic Review and Future Research Directions'</a:t>
            </a:r>
          </a:p>
        </p:txBody>
      </p:sp>
      <p:sp>
        <p:nvSpPr>
          <p:cNvPr id="17" name="TextBox 16" descr="{&quot;o11&quot;: {&quot;isO11Modified&quot;: true}}"/>
          <p:cNvSpPr txBox="1"/>
          <p:nvPr/>
        </p:nvSpPr>
        <p:spPr>
          <a:xfrm>
            <a:off x="825500" y="3530600"/>
            <a:ext cx="1054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</a:t>
            </a: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of 40+ LLM chatbots identifies memory loss, identity inconsistency, and lack of longitudinal tracking as the top three unresolved limitations.</a:t>
            </a:r>
          </a:p>
        </p:txBody>
      </p:sp>
      <p:sp>
        <p:nvSpPr>
          <p:cNvPr id="18" name="TextBox 17" descr="{&quot;o11&quot;: {&quot;isO11Modified&quot;: true}}"/>
          <p:cNvSpPr txBox="1"/>
          <p:nvPr/>
        </p:nvSpPr>
        <p:spPr>
          <a:xfrm>
            <a:off x="825500" y="3911600"/>
            <a:ext cx="1054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66666"/>
                </a:solidFill>
                <a:latin typeface="Franklin Gothic Book" panose="020B0503020102020204"/>
              </a:defRPr>
            </a:pPr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</a:t>
            </a:r>
            <a:r>
              <a:rPr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MIRYN AI is architecturally designed to resolve all three limitations identified in this 2024 review — memory persistence, versioned identity, longitudinal data science tracking.</a:t>
            </a:r>
          </a:p>
        </p:txBody>
      </p:sp>
      <p:sp>
        <p:nvSpPr>
          <p:cNvPr id="19" name="Rectangle 18" descr="{&quot;o11&quot;: {&quot;isO11Modified&quot;: true}}"/>
          <p:cNvSpPr/>
          <p:nvPr/>
        </p:nvSpPr>
        <p:spPr>
          <a:xfrm>
            <a:off x="635000" y="4508500"/>
            <a:ext cx="10922000" cy="14605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 descr="{&quot;o11&quot;: {&quot;isO11Modified&quot;: true}}"/>
          <p:cNvSpPr/>
          <p:nvPr/>
        </p:nvSpPr>
        <p:spPr>
          <a:xfrm>
            <a:off x="635000" y="4508500"/>
            <a:ext cx="50800" cy="1460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 descr="{&quot;o11&quot;: {&quot;isO11Modified&quot;: true}}"/>
          <p:cNvSpPr/>
          <p:nvPr/>
        </p:nvSpPr>
        <p:spPr>
          <a:xfrm>
            <a:off x="825500" y="4635500"/>
            <a:ext cx="444500" cy="2286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t>[8]</a:t>
            </a:r>
          </a:p>
        </p:txBody>
      </p:sp>
      <p:sp>
        <p:nvSpPr>
          <p:cNvPr id="22" name="TextBox 21" descr="{&quot;o11&quot;: {&quot;isO11Modified&quot;: true}}"/>
          <p:cNvSpPr txBox="1"/>
          <p:nvPr/>
        </p:nvSpPr>
        <p:spPr>
          <a:xfrm>
            <a:off x="1397000" y="4622800"/>
            <a:ext cx="990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P. Lewis, E. Perez, A. Piktus, F. Petroni, V. Karpukhin, N. Goyal — Advances in Neural Information Processing Systems (NeurIPS), 2020</a:t>
            </a:r>
          </a:p>
        </p:txBody>
      </p:sp>
      <p:sp>
        <p:nvSpPr>
          <p:cNvPr id="23" name="TextBox 22" descr="{&quot;o11&quot;: {&quot;isO11Modified&quot;: true}}"/>
          <p:cNvSpPr txBox="1"/>
          <p:nvPr/>
        </p:nvSpPr>
        <p:spPr>
          <a:xfrm>
            <a:off x="825500" y="4902200"/>
            <a:ext cx="4874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'Retrieval-Augmented Generation for Knowledge-Intensive NLP Tasks'</a:t>
            </a:r>
          </a:p>
        </p:txBody>
      </p:sp>
      <p:sp>
        <p:nvSpPr>
          <p:cNvPr id="24" name="TextBox 23" descr="{&quot;o11&quot;: {&quot;isO11Modified&quot;: true}}"/>
          <p:cNvSpPr txBox="1"/>
          <p:nvPr/>
        </p:nvSpPr>
        <p:spPr>
          <a:xfrm>
            <a:off x="825500" y="5181600"/>
            <a:ext cx="1054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</a:t>
            </a: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RAG combines parametric (LLM) and non-parametric (retrieved) memory to produce factually grounded, context-aware responses surpassing standard LLMs.</a:t>
            </a:r>
          </a:p>
        </p:txBody>
      </p:sp>
      <p:sp>
        <p:nvSpPr>
          <p:cNvPr id="25" name="TextBox 24" descr="{&quot;o11&quot;: {&quot;isO11Modified&quot;: true}}"/>
          <p:cNvSpPr txBox="1"/>
          <p:nvPr/>
        </p:nvSpPr>
        <p:spPr>
          <a:xfrm>
            <a:off x="825500" y="5562600"/>
            <a:ext cx="10541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66666"/>
                </a:solidFill>
                <a:latin typeface="Franklin Gothic Book" panose="020B0503020102020204"/>
              </a:defRPr>
            </a:pPr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MIRYN Relevance: </a:t>
            </a:r>
            <a:r>
              <a:rPr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Foundational paper for MIRYN’s entire memory architecture — Chroma DB + 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Gemini/Vertex API I</a:t>
            </a:r>
            <a:r>
              <a:rPr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mplements this RAG framework.</a:t>
            </a:r>
          </a:p>
        </p:txBody>
      </p:sp>
      <p:sp>
        <p:nvSpPr>
          <p:cNvPr id="26" name="Rectangle 25" descr="{&quot;o11&quot;: {&quot;isO11Modified&quot;: true}}"/>
          <p:cNvSpPr/>
          <p:nvPr/>
        </p:nvSpPr>
        <p:spPr>
          <a:xfrm>
            <a:off x="635000" y="6159500"/>
            <a:ext cx="10922000" cy="381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t>All 8 papers imported to Zotero | IEEE-format bibliography auto-generated | Diagrams comply with PPT SmartArt / Visio guidelines</a:t>
            </a:r>
          </a:p>
        </p:txBody>
      </p:sp>
      <p:sp>
        <p:nvSpPr>
          <p:cNvPr id="27" name="TextBox 26" descr="{&quot;o11&quot;: {&quot;isO11Modified&quot;: true}}"/>
          <p:cNvSpPr txBox="1"/>
          <p:nvPr/>
        </p:nvSpPr>
        <p:spPr>
          <a:xfrm>
            <a:off x="635000" y="65786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sp>
        <p:nvSpPr>
          <p:cNvPr id="31" name="TextBox 30" descr="{&quot;o11&quot;: {&quot;isO11Modified&quot;: true}}"/>
          <p:cNvSpPr txBox="1"/>
          <p:nvPr/>
        </p:nvSpPr>
        <p:spPr>
          <a:xfrm>
            <a:off x="1295400" y="270819"/>
            <a:ext cx="359149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RELATED WORKS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81851" y="268699"/>
            <a:ext cx="11188970" cy="679103"/>
            <a:chOff x="501515" y="337523"/>
            <a:chExt cx="11188970" cy="679103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25" name="Picture 24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 descr="{&quot;o11&quot;: {&quot;isO11Modified&quot;: true}}"/>
          <p:cNvSpPr/>
          <p:nvPr/>
        </p:nvSpPr>
        <p:spPr>
          <a:xfrm>
            <a:off x="635000" y="1079500"/>
            <a:ext cx="10922000" cy="952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01600" rIns="127000" rtlCol="0" anchor="ctr"/>
          <a:lstStyle/>
          <a:p>
            <a:pPr algn="just">
              <a:defRPr sz="10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MIRYN AI is a full-stack intelligent conversational system that establishes persistent memory and evolving user identity across unlimited sessions. It combines Retrieval-Augmented Generation (RAG), hybrid vector-relational storage, a versioned Identity Engine, and ML-powered data science models to deliver reflective, personalized AI conversations.</a:t>
            </a:r>
          </a:p>
        </p:txBody>
      </p:sp>
      <p:sp>
        <p:nvSpPr>
          <p:cNvPr id="6" name="Rectangle 5" descr="{&quot;o11&quot;: {&quot;isO11Modified&quot;: true}}"/>
          <p:cNvSpPr/>
          <p:nvPr/>
        </p:nvSpPr>
        <p:spPr>
          <a:xfrm>
            <a:off x="635000" y="1079500"/>
            <a:ext cx="50800" cy="952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 descr="{&quot;o11&quot;: {&quot;isO11Modified&quot;: true}}"/>
          <p:cNvSpPr/>
          <p:nvPr/>
        </p:nvSpPr>
        <p:spPr>
          <a:xfrm>
            <a:off x="635000" y="2222500"/>
            <a:ext cx="5334000" cy="361950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 descr="{&quot;o11&quot;: {&quot;isO11Modified&quot;: true}}"/>
          <p:cNvSpPr/>
          <p:nvPr/>
        </p:nvSpPr>
        <p:spPr>
          <a:xfrm>
            <a:off x="635000" y="2222500"/>
            <a:ext cx="5334000" cy="3556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Franklin Gothic Book" panose="020B0503020102020204"/>
              </a:defRPr>
            </a:pPr>
            <a:r>
              <a:rPr dirty="0"/>
              <a:t>Core Architecture (Sahil Sharma — Full-Stack &amp; DevOps)</a:t>
            </a:r>
          </a:p>
        </p:txBody>
      </p:sp>
      <p:sp>
        <p:nvSpPr>
          <p:cNvPr id="9" name="TextBox 8" descr="{&quot;o11&quot;: {&quot;isO11Modified&quot;: true}}"/>
          <p:cNvSpPr txBox="1"/>
          <p:nvPr/>
        </p:nvSpPr>
        <p:spPr>
          <a:xfrm>
            <a:off x="825500" y="2679700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RAG Pipeline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Retrieves semantically relevant past memories using Chroma Vector DB</a:t>
            </a:r>
          </a:p>
        </p:txBody>
      </p:sp>
      <p:sp>
        <p:nvSpPr>
          <p:cNvPr id="10" name="TextBox 9" descr="{&quot;o11&quot;: {&quot;isO11Modified&quot;: true}}"/>
          <p:cNvSpPr txBox="1"/>
          <p:nvPr/>
        </p:nvSpPr>
        <p:spPr>
          <a:xfrm>
            <a:off x="825500" y="3311525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Hybrid Memory Layer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Chroma DB (vector embeddings) + PostgreSQL via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 descr="{&quot;o11&quot;: {&quot;isO11Modified&quot;: true}}"/>
          <p:cNvSpPr txBox="1"/>
          <p:nvPr/>
        </p:nvSpPr>
        <p:spPr>
          <a:xfrm>
            <a:off x="825500" y="3943350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Identity Engine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Versioned behavioral and emotional user profiles updated each session</a:t>
            </a:r>
          </a:p>
        </p:txBody>
      </p:sp>
      <p:sp>
        <p:nvSpPr>
          <p:cNvPr id="12" name="TextBox 11" descr="{&quot;o11&quot;: {&quot;isO11Modified&quot;: true}}"/>
          <p:cNvSpPr txBox="1"/>
          <p:nvPr/>
        </p:nvSpPr>
        <p:spPr>
          <a:xfrm>
            <a:off x="825500" y="4575175"/>
            <a:ext cx="4953000" cy="55399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4 Personality Modes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Reflective | Analytical | Empathetic | Challenging — activated by LLM context</a:t>
            </a:r>
          </a:p>
        </p:txBody>
      </p:sp>
      <p:sp>
        <p:nvSpPr>
          <p:cNvPr id="13" name="TextBox 12" descr="{&quot;o11&quot;: {&quot;isO11Modified&quot;: true}}"/>
          <p:cNvSpPr txBox="1"/>
          <p:nvPr/>
        </p:nvSpPr>
        <p:spPr>
          <a:xfrm>
            <a:off x="825500" y="5207000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Full-Stack Architecture</a:t>
            </a:r>
          </a:p>
          <a:p>
            <a:pPr>
              <a:defRPr sz="10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Next.js (frontend) +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(backend API) + Gemini API</a:t>
            </a:r>
          </a:p>
        </p:txBody>
      </p:sp>
      <p:sp>
        <p:nvSpPr>
          <p:cNvPr id="14" name="Rectangle 13" descr="{&quot;o11&quot;: {&quot;isO11Modified&quot;: true}}"/>
          <p:cNvSpPr/>
          <p:nvPr/>
        </p:nvSpPr>
        <p:spPr>
          <a:xfrm>
            <a:off x="6223000" y="2222500"/>
            <a:ext cx="5334000" cy="3619500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 descr="{&quot;o11&quot;: {&quot;isO11Modified&quot;: true}}"/>
          <p:cNvSpPr/>
          <p:nvPr/>
        </p:nvSpPr>
        <p:spPr>
          <a:xfrm>
            <a:off x="6223000" y="2222500"/>
            <a:ext cx="5334000" cy="3556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Franklin Gothic Book" panose="020B0503020102020204"/>
              </a:defRPr>
            </a:pPr>
            <a:r>
              <a:rPr dirty="0"/>
              <a:t>Data Science Layer (Divyadeep Kaur + Gracy Mehra)</a:t>
            </a:r>
          </a:p>
        </p:txBody>
      </p:sp>
      <p:sp>
        <p:nvSpPr>
          <p:cNvPr id="16" name="TextBox 15" descr="{&quot;o11&quot;: {&quot;isO11Modified&quot;: true}}"/>
          <p:cNvSpPr txBox="1"/>
          <p:nvPr/>
        </p:nvSpPr>
        <p:spPr>
          <a:xfrm>
            <a:off x="6413500" y="2679700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Cosine Similarity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Tracks Identity Stability Score across sessions</a:t>
            </a:r>
          </a:p>
        </p:txBody>
      </p:sp>
      <p:sp>
        <p:nvSpPr>
          <p:cNvPr id="17" name="TextBox 16" descr="{&quot;o11&quot;: {&quot;isO11Modified&quot;: true}}"/>
          <p:cNvSpPr txBox="1"/>
          <p:nvPr/>
        </p:nvSpPr>
        <p:spPr>
          <a:xfrm>
            <a:off x="6413500" y="3311525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Sentiment Drift Index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Rolling average NLP sentiment (VADER + Transformers)</a:t>
            </a:r>
          </a:p>
        </p:txBody>
      </p:sp>
      <p:sp>
        <p:nvSpPr>
          <p:cNvPr id="18" name="TextBox 17" descr="{&quot;o11&quot;: {&quot;isO11Modified&quot;: true}}"/>
          <p:cNvSpPr txBox="1"/>
          <p:nvPr/>
        </p:nvSpPr>
        <p:spPr>
          <a:xfrm>
            <a:off x="6413500" y="3943350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Emotional Volatility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Standard deviation of sentiment over last 10 sessions</a:t>
            </a:r>
          </a:p>
        </p:txBody>
      </p:sp>
      <p:sp>
        <p:nvSpPr>
          <p:cNvPr id="19" name="TextBox 18" descr="{&quot;o11&quot;: {&quot;isO11Modified&quot;: true}}"/>
          <p:cNvSpPr txBox="1"/>
          <p:nvPr/>
        </p:nvSpPr>
        <p:spPr>
          <a:xfrm>
            <a:off x="6413500" y="4575175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Memory Relevance Ranking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RF +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ensemble model using 4 features:</a:t>
            </a:r>
          </a:p>
        </p:txBody>
      </p:sp>
      <p:sp>
        <p:nvSpPr>
          <p:cNvPr id="20" name="TextBox 19" descr="{&quot;o11&quot;: {&quot;isO11Modified&quot;: true}}"/>
          <p:cNvSpPr txBox="1"/>
          <p:nvPr/>
        </p:nvSpPr>
        <p:spPr>
          <a:xfrm>
            <a:off x="6413500" y="5193640"/>
            <a:ext cx="4953000" cy="3693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9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Features</a:t>
            </a:r>
          </a:p>
          <a:p>
            <a:pPr>
              <a:defRPr sz="80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Recency, Intensity, Topic Overlap, Frequency Weight</a:t>
            </a:r>
          </a:p>
        </p:txBody>
      </p:sp>
      <p:sp>
        <p:nvSpPr>
          <p:cNvPr id="21" name="Rectangle 20" descr="{&quot;o11&quot;: {&quot;isO11Modified&quot;: true}}"/>
          <p:cNvSpPr/>
          <p:nvPr/>
        </p:nvSpPr>
        <p:spPr>
          <a:xfrm>
            <a:off x="635000" y="6070600"/>
            <a:ext cx="10922000" cy="381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Gemini API (Google) | Next.js | FastAPI | Chroma DB | PostgreSQL (Supabase) | VADER | Transformers | scikit-learn</a:t>
            </a:r>
          </a:p>
        </p:txBody>
      </p:sp>
      <p:sp>
        <p:nvSpPr>
          <p:cNvPr id="22" name="TextBox 21" descr="{&quot;o11&quot;: {&quot;isO11Modified&quot;: true}}"/>
          <p:cNvSpPr txBox="1"/>
          <p:nvPr/>
        </p:nvSpPr>
        <p:spPr>
          <a:xfrm>
            <a:off x="635000" y="65024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33333"/>
                </a:solidFill>
                <a:latin typeface="Franklin Gothic Book" panose="020B0503020102020204"/>
              </a:defRPr>
            </a:pPr>
            <a:r>
              <a:t>Group BTCSE-86 | DIT University</a:t>
            </a:r>
          </a:p>
        </p:txBody>
      </p:sp>
      <p:sp>
        <p:nvSpPr>
          <p:cNvPr id="26" name="TextBox 25" descr="{&quot;o11&quot;: {&quot;isO11Modified&quot;: true}}"/>
          <p:cNvSpPr txBox="1"/>
          <p:nvPr/>
        </p:nvSpPr>
        <p:spPr>
          <a:xfrm>
            <a:off x="1295400" y="186736"/>
            <a:ext cx="475848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PROJECT DESCRIPTION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 descr="{&quot;o11&quot;: {&quot;isO11Modified&quot;: true}}"/>
          <p:cNvSpPr txBox="1"/>
          <p:nvPr/>
        </p:nvSpPr>
        <p:spPr>
          <a:xfrm>
            <a:off x="5269821" y="564913"/>
            <a:ext cx="51731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2400" dirty="0"/>
              <a:t>Is MIRYN AI Achievable by May 2026?</a:t>
            </a:r>
          </a:p>
        </p:txBody>
      </p:sp>
      <p:sp>
        <p:nvSpPr>
          <p:cNvPr id="37" name="Rectangle 36" descr="{&quot;o11&quot;: {&quot;isO11Modified&quot;: true}}"/>
          <p:cNvSpPr/>
          <p:nvPr/>
        </p:nvSpPr>
        <p:spPr>
          <a:xfrm>
            <a:off x="635000" y="5778500"/>
            <a:ext cx="109220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 descr="{&quot;o11&quot;: {&quot;isO11Modified&quot;: true}}"/>
          <p:cNvSpPr/>
          <p:nvPr/>
        </p:nvSpPr>
        <p:spPr>
          <a:xfrm>
            <a:off x="635000" y="5778500"/>
            <a:ext cx="50800" cy="571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 descr="{&quot;o11&quot;: {&quot;isO11Modified&quot;: true}}"/>
          <p:cNvSpPr txBox="1"/>
          <p:nvPr/>
        </p:nvSpPr>
        <p:spPr>
          <a:xfrm>
            <a:off x="825500" y="5842000"/>
            <a:ext cx="10541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t>Verdict: MIRYN AI is fully feasible within academic, technical, and ethical constraints. Delivery target: May 10, 2026.</a:t>
            </a:r>
          </a:p>
        </p:txBody>
      </p:sp>
      <p:sp>
        <p:nvSpPr>
          <p:cNvPr id="40" name="TextBox 39" descr="{&quot;o11&quot;: {&quot;isO11Modified&quot;: true}}"/>
          <p:cNvSpPr txBox="1"/>
          <p:nvPr/>
        </p:nvSpPr>
        <p:spPr>
          <a:xfrm>
            <a:off x="635000" y="65405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t>Group BTCSE-86 | DIT University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43" name="Picture 42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TextBox 43" descr="{&quot;o11&quot;: {&quot;isO11Modified&quot;: true}}"/>
          <p:cNvSpPr txBox="1"/>
          <p:nvPr/>
        </p:nvSpPr>
        <p:spPr>
          <a:xfrm>
            <a:off x="1295400" y="425223"/>
            <a:ext cx="397442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FEASIBILITY STUDY</a:t>
            </a:r>
            <a:endParaRPr sz="3800" dirty="0">
              <a:latin typeface="+mj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34999" y="1227992"/>
          <a:ext cx="10922001" cy="43391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58"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Level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3443"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tools are open-source and already in production use elsewhere. The 10-week timeline is realistic given the scope.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version control; CI/CD pipeline with rollback support.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3443"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Low–Medium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Three-person team with clear role separation. Main risk is integration across parallel workstreams.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locked at Week 4; fortnightly supervisor reviews.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2997"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raw conversation logs are stored — only embeddings. The system makes no clinical claims and is positioned as a reflective assistant only.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Privacy-by-design architecture; user memory control built in from Day 1.</a:t>
                      </a:r>
                      <a:endParaRPr lang="en-IN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 descr="{&quot;o11&quot;: {&quot;isO11Modified&quot;: true}}"/>
          <p:cNvSpPr txBox="1"/>
          <p:nvPr/>
        </p:nvSpPr>
        <p:spPr>
          <a:xfrm>
            <a:off x="7018865" y="394445"/>
            <a:ext cx="3789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sz="2000" dirty="0"/>
              <a:t>System Architecture and Data Science Pipeline</a:t>
            </a:r>
          </a:p>
        </p:txBody>
      </p:sp>
      <p:sp>
        <p:nvSpPr>
          <p:cNvPr id="5" name="Rounded Rectangle 4" descr="{&quot;o11&quot;: {&quot;isO11Modified&quot;: true}}"/>
          <p:cNvSpPr/>
          <p:nvPr/>
        </p:nvSpPr>
        <p:spPr>
          <a:xfrm>
            <a:off x="571500" y="1143000"/>
            <a:ext cx="1905000" cy="4445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rPr sz="1200" dirty="0"/>
              <a:t>User Input</a:t>
            </a:r>
          </a:p>
        </p:txBody>
      </p:sp>
      <p:sp>
        <p:nvSpPr>
          <p:cNvPr id="6" name="Right Arrow 5" descr="{&quot;o11&quot;: {&quot;isO11Modified&quot;: true}}"/>
          <p:cNvSpPr/>
          <p:nvPr/>
        </p:nvSpPr>
        <p:spPr>
          <a:xfrm>
            <a:off x="2501900" y="1301750"/>
            <a:ext cx="330200" cy="127000"/>
          </a:xfrm>
          <a:prstGeom prst="rightArrow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 descr="{&quot;o11&quot;: {&quot;isO11Modified&quot;: true}}"/>
          <p:cNvSpPr/>
          <p:nvPr/>
        </p:nvSpPr>
        <p:spPr>
          <a:xfrm>
            <a:off x="2857500" y="1143000"/>
            <a:ext cx="1905000" cy="4445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rPr sz="1200" dirty="0"/>
              <a:t>NLP Preprocessing</a:t>
            </a:r>
          </a:p>
        </p:txBody>
      </p:sp>
      <p:sp>
        <p:nvSpPr>
          <p:cNvPr id="8" name="Right Arrow 7" descr="{&quot;o11&quot;: {&quot;isO11Modified&quot;: true}}"/>
          <p:cNvSpPr/>
          <p:nvPr/>
        </p:nvSpPr>
        <p:spPr>
          <a:xfrm>
            <a:off x="4787900" y="1301750"/>
            <a:ext cx="330200" cy="127000"/>
          </a:xfrm>
          <a:prstGeom prst="rightArrow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 descr="{&quot;o11&quot;: {&quot;isO11Modified&quot;: true}}"/>
          <p:cNvSpPr/>
          <p:nvPr/>
        </p:nvSpPr>
        <p:spPr>
          <a:xfrm>
            <a:off x="5143500" y="1143000"/>
            <a:ext cx="1905000" cy="4445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rPr sz="1100" dirty="0"/>
              <a:t> RAG Retrieval (Chroma DB)</a:t>
            </a:r>
          </a:p>
        </p:txBody>
      </p:sp>
      <p:sp>
        <p:nvSpPr>
          <p:cNvPr id="10" name="Right Arrow 9" descr="{&quot;o11&quot;: {&quot;isO11Modified&quot;: true}}"/>
          <p:cNvSpPr/>
          <p:nvPr/>
        </p:nvSpPr>
        <p:spPr>
          <a:xfrm>
            <a:off x="7073900" y="1301750"/>
            <a:ext cx="330200" cy="127000"/>
          </a:xfrm>
          <a:prstGeom prst="rightArrow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 descr="{&quot;o11&quot;: {&quot;isO11Modified&quot;: true}}"/>
          <p:cNvSpPr/>
          <p:nvPr/>
        </p:nvSpPr>
        <p:spPr>
          <a:xfrm>
            <a:off x="7429500" y="1143000"/>
            <a:ext cx="1905000" cy="4445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rPr sz="1200" dirty="0"/>
              <a:t> Identity Engine (DS Core)</a:t>
            </a:r>
          </a:p>
        </p:txBody>
      </p:sp>
      <p:sp>
        <p:nvSpPr>
          <p:cNvPr id="12" name="Right Arrow 11" descr="{&quot;o11&quot;: {&quot;isO11Modified&quot;: true}}"/>
          <p:cNvSpPr/>
          <p:nvPr/>
        </p:nvSpPr>
        <p:spPr>
          <a:xfrm>
            <a:off x="9359900" y="1301750"/>
            <a:ext cx="330200" cy="127000"/>
          </a:xfrm>
          <a:prstGeom prst="rightArrow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 descr="{&quot;o11&quot;: {&quot;isO11Modified&quot;: true}}"/>
          <p:cNvSpPr/>
          <p:nvPr/>
        </p:nvSpPr>
        <p:spPr>
          <a:xfrm>
            <a:off x="9715500" y="1143000"/>
            <a:ext cx="1905000" cy="4445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Franklin Gothic Medium" panose="020B0603020102020204"/>
              </a:defRPr>
            </a:pPr>
            <a:r>
              <a:rPr sz="1100" dirty="0"/>
              <a:t>LLM Response (Gemini API)</a:t>
            </a:r>
          </a:p>
        </p:txBody>
      </p:sp>
      <p:sp>
        <p:nvSpPr>
          <p:cNvPr id="14" name="TextBox 13" descr="{&quot;o11&quot;: {&quot;isO11Modified&quot;: true}}"/>
          <p:cNvSpPr txBox="1"/>
          <p:nvPr/>
        </p:nvSpPr>
        <p:spPr>
          <a:xfrm>
            <a:off x="10350500" y="1612900"/>
            <a:ext cx="15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002D72"/>
                </a:solidFill>
                <a:latin typeface="Franklin Gothic Book" panose="020B0503020102020204"/>
              </a:defRPr>
            </a:pPr>
            <a:r>
              <a:t>↺ Loop: Memory Update</a:t>
            </a:r>
          </a:p>
        </p:txBody>
      </p:sp>
      <p:sp>
        <p:nvSpPr>
          <p:cNvPr id="15" name="Rectangle 14" descr="{&quot;o11&quot;: {&quot;isO11Modified&quot;: true}}"/>
          <p:cNvSpPr/>
          <p:nvPr/>
        </p:nvSpPr>
        <p:spPr>
          <a:xfrm>
            <a:off x="635000" y="1905000"/>
            <a:ext cx="5270500" cy="133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 descr="{&quot;o11&quot;: {&quot;isO11Modified&quot;: true}}"/>
          <p:cNvSpPr/>
          <p:nvPr/>
        </p:nvSpPr>
        <p:spPr>
          <a:xfrm>
            <a:off x="635000" y="1905000"/>
            <a:ext cx="38100" cy="1333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 descr="{&quot;o11&quot;: {&quot;isO11Modified&quot;: true}}"/>
          <p:cNvSpPr txBox="1"/>
          <p:nvPr/>
        </p:nvSpPr>
        <p:spPr>
          <a:xfrm>
            <a:off x="762000" y="1968500"/>
            <a:ext cx="508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t>PHASE 1 — USER INPUT LAYER</a:t>
            </a:r>
          </a:p>
        </p:txBody>
      </p:sp>
      <p:sp>
        <p:nvSpPr>
          <p:cNvPr id="18" name="TextBox 17" descr="{&quot;o11&quot;: {&quot;isO11Modified&quot;: true}}"/>
          <p:cNvSpPr txBox="1"/>
          <p:nvPr/>
        </p:nvSpPr>
        <p:spPr>
          <a:xfrm>
            <a:off x="825500" y="2222500"/>
            <a:ext cx="495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050" dirty="0"/>
              <a:t>User interacts via Next.js chat interface</a:t>
            </a:r>
          </a:p>
        </p:txBody>
      </p:sp>
      <p:sp>
        <p:nvSpPr>
          <p:cNvPr id="19" name="TextBox 18" descr="{&quot;o11&quot;: {&quot;isO11Modified&quot;: true}}"/>
          <p:cNvSpPr txBox="1"/>
          <p:nvPr/>
        </p:nvSpPr>
        <p:spPr>
          <a:xfrm>
            <a:off x="825500" y="2603500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Input text preprocessed: tokenized, cleaned, </a:t>
            </a:r>
            <a:r>
              <a:rPr sz="1200" dirty="0" err="1"/>
              <a:t>stopwords</a:t>
            </a:r>
            <a:r>
              <a:rPr sz="1200" dirty="0"/>
              <a:t> removed</a:t>
            </a:r>
          </a:p>
        </p:txBody>
      </p:sp>
      <p:sp>
        <p:nvSpPr>
          <p:cNvPr id="21" name="Rectangle 20" descr="{&quot;o11&quot;: {&quot;isO11Modified&quot;: true}}"/>
          <p:cNvSpPr/>
          <p:nvPr/>
        </p:nvSpPr>
        <p:spPr>
          <a:xfrm>
            <a:off x="635000" y="3436883"/>
            <a:ext cx="5270500" cy="279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 descr="{&quot;o11&quot;: {&quot;isO11Modified&quot;: true}}"/>
          <p:cNvSpPr/>
          <p:nvPr/>
        </p:nvSpPr>
        <p:spPr>
          <a:xfrm>
            <a:off x="635000" y="3429000"/>
            <a:ext cx="38100" cy="2794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 descr="{&quot;o11&quot;: {&quot;isO11Modified&quot;: true}}"/>
          <p:cNvSpPr txBox="1"/>
          <p:nvPr/>
        </p:nvSpPr>
        <p:spPr>
          <a:xfrm>
            <a:off x="762000" y="3492500"/>
            <a:ext cx="508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t>PHASE 3 — IDENTITY ENGINE (DATA SCIENCE CORE)</a:t>
            </a:r>
          </a:p>
        </p:txBody>
      </p:sp>
      <p:sp>
        <p:nvSpPr>
          <p:cNvPr id="24" name="TextBox 23" descr="{&quot;o11&quot;: {&quot;isO11Modified&quot;: true}}"/>
          <p:cNvSpPr txBox="1"/>
          <p:nvPr/>
        </p:nvSpPr>
        <p:spPr>
          <a:xfrm>
            <a:off x="825500" y="3903406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Identity Stability Score: cosine sim vs historical behavioral vector</a:t>
            </a:r>
          </a:p>
        </p:txBody>
      </p:sp>
      <p:sp>
        <p:nvSpPr>
          <p:cNvPr id="25" name="TextBox 24" descr="{&quot;o11&quot;: {&quot;isO11Modified&quot;: true}}"/>
          <p:cNvSpPr txBox="1"/>
          <p:nvPr/>
        </p:nvSpPr>
        <p:spPr>
          <a:xfrm>
            <a:off x="825500" y="448733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00">
                <a:solidFill>
                  <a:srgbClr val="3E4651"/>
                </a:solidFill>
                <a:latin typeface="Franklin Gothic Book" panose="020B0503020102020204"/>
              </a:defRPr>
            </a:pPr>
            <a:endParaRPr sz="1400" dirty="0"/>
          </a:p>
        </p:txBody>
      </p:sp>
      <p:sp>
        <p:nvSpPr>
          <p:cNvPr id="26" name="TextBox 25" descr="{&quot;o11&quot;: {&quot;isO11Modified&quot;: true}}"/>
          <p:cNvSpPr txBox="1"/>
          <p:nvPr/>
        </p:nvSpPr>
        <p:spPr>
          <a:xfrm>
            <a:off x="825500" y="4453751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Emotional Volatility: std dev of last 10 session sentiment values</a:t>
            </a:r>
          </a:p>
        </p:txBody>
      </p:sp>
      <p:sp>
        <p:nvSpPr>
          <p:cNvPr id="27" name="TextBox 26" descr="{&quot;o11&quot;: {&quot;isO11Modified&quot;: true}}"/>
          <p:cNvSpPr txBox="1"/>
          <p:nvPr/>
        </p:nvSpPr>
        <p:spPr>
          <a:xfrm>
            <a:off x="841066" y="5068500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Memory Relevance Ranking: R</a:t>
            </a:r>
            <a:r>
              <a:rPr lang="en-IN" sz="1200" dirty="0" err="1"/>
              <a:t>andom</a:t>
            </a:r>
            <a:r>
              <a:rPr lang="en-IN" sz="1200" dirty="0"/>
              <a:t> Forest</a:t>
            </a:r>
            <a:r>
              <a:rPr sz="1200" dirty="0"/>
              <a:t>+ </a:t>
            </a:r>
            <a:r>
              <a:rPr sz="1200" dirty="0" err="1"/>
              <a:t>XGBoost</a:t>
            </a:r>
            <a:r>
              <a:rPr sz="1200" dirty="0"/>
              <a:t> ensemble model</a:t>
            </a:r>
          </a:p>
        </p:txBody>
      </p:sp>
      <p:sp>
        <p:nvSpPr>
          <p:cNvPr id="28" name="Rectangle 27" descr="{&quot;o11&quot;: {&quot;isO11Modified&quot;: true}}"/>
          <p:cNvSpPr/>
          <p:nvPr/>
        </p:nvSpPr>
        <p:spPr>
          <a:xfrm>
            <a:off x="6286500" y="1905000"/>
            <a:ext cx="5270500" cy="133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 descr="{&quot;o11&quot;: {&quot;isO11Modified&quot;: true}}"/>
          <p:cNvSpPr/>
          <p:nvPr/>
        </p:nvSpPr>
        <p:spPr>
          <a:xfrm>
            <a:off x="6286500" y="1905000"/>
            <a:ext cx="38100" cy="1333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 descr="{&quot;o11&quot;: {&quot;isO11Modified&quot;: true}}"/>
          <p:cNvSpPr txBox="1"/>
          <p:nvPr/>
        </p:nvSpPr>
        <p:spPr>
          <a:xfrm>
            <a:off x="6413500" y="1968500"/>
            <a:ext cx="508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t>PHASE 2 — CONTEXT RETRIEVAL (RAG)</a:t>
            </a:r>
          </a:p>
        </p:txBody>
      </p:sp>
      <p:sp>
        <p:nvSpPr>
          <p:cNvPr id="31" name="TextBox 30" descr="{&quot;o11&quot;: {&quot;isO11Modified&quot;: true}}"/>
          <p:cNvSpPr txBox="1"/>
          <p:nvPr/>
        </p:nvSpPr>
        <p:spPr>
          <a:xfrm>
            <a:off x="6477000" y="2222500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Query converted to high-dimensional semantic embedding vector</a:t>
            </a:r>
          </a:p>
        </p:txBody>
      </p:sp>
      <p:sp>
        <p:nvSpPr>
          <p:cNvPr id="32" name="TextBox 31" descr="{&quot;o11&quot;: {&quot;isO11Modified&quot;: true}}"/>
          <p:cNvSpPr txBox="1"/>
          <p:nvPr/>
        </p:nvSpPr>
        <p:spPr>
          <a:xfrm>
            <a:off x="6477000" y="2603500"/>
            <a:ext cx="495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100" dirty="0"/>
              <a:t>Chroma Vector DB performs cosine similarity search</a:t>
            </a:r>
          </a:p>
        </p:txBody>
      </p:sp>
      <p:sp>
        <p:nvSpPr>
          <p:cNvPr id="33" name="TextBox 32" descr="{&quot;o11&quot;: {&quot;isO11Modified&quot;: true}}"/>
          <p:cNvSpPr txBox="1"/>
          <p:nvPr/>
        </p:nvSpPr>
        <p:spPr>
          <a:xfrm>
            <a:off x="6445250" y="2905611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Top-K relevant memories injected as grounding context</a:t>
            </a:r>
          </a:p>
        </p:txBody>
      </p:sp>
      <p:sp>
        <p:nvSpPr>
          <p:cNvPr id="34" name="Rectangle 33" descr="{&quot;o11&quot;: {&quot;isO11Modified&quot;: true}}"/>
          <p:cNvSpPr/>
          <p:nvPr/>
        </p:nvSpPr>
        <p:spPr>
          <a:xfrm>
            <a:off x="6286500" y="3397250"/>
            <a:ext cx="5270500" cy="133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 descr="{&quot;o11&quot;: {&quot;isO11Modified&quot;: true}}"/>
          <p:cNvSpPr/>
          <p:nvPr/>
        </p:nvSpPr>
        <p:spPr>
          <a:xfrm>
            <a:off x="6286500" y="3397250"/>
            <a:ext cx="38100" cy="1333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 descr="{&quot;o11&quot;: {&quot;isO11Modified&quot;: true}}"/>
          <p:cNvSpPr txBox="1"/>
          <p:nvPr/>
        </p:nvSpPr>
        <p:spPr>
          <a:xfrm>
            <a:off x="6413500" y="3460750"/>
            <a:ext cx="508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t>PHASE 4 — LLM RESPONSE GENERATION</a:t>
            </a:r>
          </a:p>
        </p:txBody>
      </p:sp>
      <p:sp>
        <p:nvSpPr>
          <p:cNvPr id="37" name="TextBox 36" descr="{&quot;o11&quot;: {&quot;isO11Modified&quot;: true}}"/>
          <p:cNvSpPr txBox="1"/>
          <p:nvPr/>
        </p:nvSpPr>
        <p:spPr>
          <a:xfrm>
            <a:off x="6477000" y="3714750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9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Enriched prompt (input + memories + identity) sent to Gemini API</a:t>
            </a:r>
          </a:p>
        </p:txBody>
      </p:sp>
      <p:sp>
        <p:nvSpPr>
          <p:cNvPr id="38" name="TextBox 37" descr="{&quot;o11&quot;: {&quot;isO11Modified&quot;: true}}"/>
          <p:cNvSpPr txBox="1"/>
          <p:nvPr/>
        </p:nvSpPr>
        <p:spPr>
          <a:xfrm>
            <a:off x="6477000" y="4095750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lang="en-IN" sz="1200" dirty="0"/>
              <a:t>Personality mode filter: Reflective / Analytical / Empathetic</a:t>
            </a:r>
            <a:endParaRPr sz="1200" dirty="0"/>
          </a:p>
        </p:txBody>
      </p:sp>
      <p:sp>
        <p:nvSpPr>
          <p:cNvPr id="39" name="TextBox 38" descr="{&quot;o11&quot;: {&quot;isO11Modified&quot;: true}}"/>
          <p:cNvSpPr txBox="1"/>
          <p:nvPr/>
        </p:nvSpPr>
        <p:spPr>
          <a:xfrm>
            <a:off x="6477000" y="4429251"/>
            <a:ext cx="495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050" dirty="0"/>
              <a:t>Response returned and rendered via Next.js frontend</a:t>
            </a:r>
          </a:p>
        </p:txBody>
      </p:sp>
      <p:sp>
        <p:nvSpPr>
          <p:cNvPr id="40" name="Rectangle 39" descr="{&quot;o11&quot;: {&quot;isO11Modified&quot;: true}}"/>
          <p:cNvSpPr/>
          <p:nvPr/>
        </p:nvSpPr>
        <p:spPr>
          <a:xfrm>
            <a:off x="6286500" y="4889500"/>
            <a:ext cx="5270500" cy="133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 descr="{&quot;o11&quot;: {&quot;isO11Modified&quot;: true}}"/>
          <p:cNvSpPr/>
          <p:nvPr/>
        </p:nvSpPr>
        <p:spPr>
          <a:xfrm>
            <a:off x="6286500" y="4889500"/>
            <a:ext cx="38100" cy="13335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 descr="{&quot;o11&quot;: {&quot;isO11Modified&quot;: true}}"/>
          <p:cNvSpPr txBox="1"/>
          <p:nvPr/>
        </p:nvSpPr>
        <p:spPr>
          <a:xfrm>
            <a:off x="6413500" y="4953000"/>
            <a:ext cx="508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t>PHASE 5 — MEMORY UPDATE &amp; STORAGE</a:t>
            </a:r>
          </a:p>
        </p:txBody>
      </p:sp>
      <p:sp>
        <p:nvSpPr>
          <p:cNvPr id="43" name="TextBox 42" descr="{&quot;o11&quot;: {&quot;isO11Modified&quot;: true}}"/>
          <p:cNvSpPr txBox="1"/>
          <p:nvPr/>
        </p:nvSpPr>
        <p:spPr>
          <a:xfrm>
            <a:off x="6477000" y="5207000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Session outcome encoded as vector and stored in Chroma DB</a:t>
            </a:r>
          </a:p>
        </p:txBody>
      </p:sp>
      <p:sp>
        <p:nvSpPr>
          <p:cNvPr id="44" name="TextBox 43" descr="{&quot;o11&quot;: {&quot;isO11Modified&quot;: true}}"/>
          <p:cNvSpPr txBox="1"/>
          <p:nvPr/>
        </p:nvSpPr>
        <p:spPr>
          <a:xfrm>
            <a:off x="6464300" y="5533368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Identity snapshot updated in PostgreSQL (</a:t>
            </a:r>
            <a:r>
              <a:rPr sz="1200" dirty="0" err="1"/>
              <a:t>Supabase</a:t>
            </a:r>
            <a:r>
              <a:rPr sz="1200" dirty="0"/>
              <a:t>)</a:t>
            </a:r>
          </a:p>
        </p:txBody>
      </p:sp>
      <p:sp>
        <p:nvSpPr>
          <p:cNvPr id="45" name="TextBox 44" descr="{&quot;o11&quot;: {&quot;isO11Modified&quot;: true}}"/>
          <p:cNvSpPr txBox="1"/>
          <p:nvPr/>
        </p:nvSpPr>
        <p:spPr>
          <a:xfrm>
            <a:off x="6477000" y="5859736"/>
            <a:ext cx="495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85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sz="1200" dirty="0"/>
              <a:t>User can review, edit, or delete memory entries (ethical control)</a:t>
            </a:r>
          </a:p>
        </p:txBody>
      </p:sp>
      <p:sp>
        <p:nvSpPr>
          <p:cNvPr id="46" name="TextBox 45" descr="{&quot;o11&quot;: {&quot;isO11Modified&quot;: true}}"/>
          <p:cNvSpPr txBox="1"/>
          <p:nvPr/>
        </p:nvSpPr>
        <p:spPr>
          <a:xfrm>
            <a:off x="635000" y="62865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i="1">
                <a:solidFill>
                  <a:srgbClr val="3E4651"/>
                </a:solidFill>
                <a:latin typeface="Franklin Gothic Book" panose="020B0503020102020204"/>
              </a:defRPr>
            </a:pPr>
            <a:r>
              <a:rPr dirty="0"/>
              <a:t>Grounded in: [8] Lewis et al. </a:t>
            </a:r>
            <a:r>
              <a:rPr dirty="0" err="1"/>
              <a:t>NeurIPS</a:t>
            </a:r>
            <a:r>
              <a:rPr dirty="0"/>
              <a:t> 2020 (RAG) | [3] Kusal et al. IEEE Access 2022 | </a:t>
            </a:r>
            <a:r>
              <a:rPr dirty="0" err="1"/>
              <a:t>Breiman</a:t>
            </a:r>
            <a:r>
              <a:rPr dirty="0"/>
              <a:t> 2001 (RF) | Chen &amp; </a:t>
            </a:r>
            <a:r>
              <a:rPr dirty="0" err="1"/>
              <a:t>Guestrin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 2016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51" name="Picture 50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TextBox 51" descr="{&quot;o11&quot;: {&quot;isO11Modified&quot;: true}}"/>
          <p:cNvSpPr txBox="1"/>
          <p:nvPr/>
        </p:nvSpPr>
        <p:spPr>
          <a:xfrm>
            <a:off x="1295400" y="425223"/>
            <a:ext cx="57875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PROPOSED METHODOLOGY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FD7E-30B9-7477-E0F5-B5EC5A9D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{&quot;o11&quot;: {&quot;isO11Modified&quot;: true}}">
            <a:extLst>
              <a:ext uri="{FF2B5EF4-FFF2-40B4-BE49-F238E27FC236}">
                <a16:creationId xmlns:a16="http://schemas.microsoft.com/office/drawing/2014/main" id="{EF2559F8-9149-70D1-BA95-E490A35601D1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BTCSE-86 | DIT University | Source: github.com/phnxsahil/Miryn-AI | March 2026</a:t>
            </a:r>
          </a:p>
        </p:txBody>
      </p:sp>
      <p:sp>
        <p:nvSpPr>
          <p:cNvPr id="5" name="TextBox 4" descr="{&quot;o11&quot;: {&quot;isO11Modified&quot;: true}}">
            <a:extLst>
              <a:ext uri="{FF2B5EF4-FFF2-40B4-BE49-F238E27FC236}">
                <a16:creationId xmlns:a16="http://schemas.microsoft.com/office/drawing/2014/main" id="{83C18E60-BB1C-CD31-8700-288952E68504}"/>
              </a:ext>
            </a:extLst>
          </p:cNvPr>
          <p:cNvSpPr txBox="1"/>
          <p:nvPr/>
        </p:nvSpPr>
        <p:spPr>
          <a:xfrm>
            <a:off x="8890000" y="6578600"/>
            <a:ext cx="3048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Source: github.com/phnxsahil/Miryn-AI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01C5F7-06AA-DFB0-91DA-2AEFDE0B5312}"/>
              </a:ext>
            </a:extLst>
          </p:cNvPr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6282CBC-A2FE-733B-8E2C-1D0ECF562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10" name="Picture 9" descr="E:\Working Files PA to VC\DITU Official Template &amp; Fonts\9851AD1D8CED4780BFF641F07CFE8B3B[4129906].png">
              <a:extLst>
                <a:ext uri="{FF2B5EF4-FFF2-40B4-BE49-F238E27FC236}">
                  <a16:creationId xmlns:a16="http://schemas.microsoft.com/office/drawing/2014/main" id="{30425607-F6DB-FF21-5493-B3C232231E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 descr="{&quot;o11&quot;: {&quot;isO11Modified&quot;: true}}">
            <a:extLst>
              <a:ext uri="{FF2B5EF4-FFF2-40B4-BE49-F238E27FC236}">
                <a16:creationId xmlns:a16="http://schemas.microsoft.com/office/drawing/2014/main" id="{6002D850-9869-0D65-703C-72170F20388A}"/>
              </a:ext>
            </a:extLst>
          </p:cNvPr>
          <p:cNvSpPr txBox="1"/>
          <p:nvPr/>
        </p:nvSpPr>
        <p:spPr>
          <a:xfrm>
            <a:off x="1295400" y="425223"/>
            <a:ext cx="57875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PROPOSED METHODOLOGY</a:t>
            </a:r>
            <a:endParaRPr sz="3800" dirty="0"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46D754-7BEA-CA19-1C76-7F5D01A2C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15" y="962257"/>
            <a:ext cx="11354704" cy="48878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17F6B1-2760-2A14-3548-1C3AACF56B52}"/>
              </a:ext>
            </a:extLst>
          </p:cNvPr>
          <p:cNvSpPr txBox="1"/>
          <p:nvPr/>
        </p:nvSpPr>
        <p:spPr>
          <a:xfrm>
            <a:off x="-619760" y="1245370"/>
            <a:ext cx="6136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ranklin Gothic Book" panose="020B0503020102020204" pitchFamily="34" charset="0"/>
              </a:rPr>
              <a:t>System Architecture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ranklin Gothic Book" panose="020B0503020102020204" pitchFamily="34" charset="0"/>
              </a:rPr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44577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 descr="{&quot;o11&quot;: {&quot;isO11Modified&quot;: true}}"/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BTCSE-86 | DIT University | Source: github.com/phnxsahil/Miryn-AI | March 2026</a:t>
            </a:r>
          </a:p>
        </p:txBody>
      </p:sp>
      <p:sp>
        <p:nvSpPr>
          <p:cNvPr id="29" name="TextBox 28" descr="{&quot;o11&quot;: {&quot;isO11Modified&quot;: true}}"/>
          <p:cNvSpPr txBox="1"/>
          <p:nvPr/>
        </p:nvSpPr>
        <p:spPr>
          <a:xfrm>
            <a:off x="8890000" y="6578600"/>
            <a:ext cx="3048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Source: github.com/phnxsahil/Miryn-AI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980" y="1047297"/>
            <a:ext cx="469203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ranklin Gothic Book" panose="020B0503020102020204" pitchFamily="34" charset="0"/>
              </a:rPr>
              <a:t>Workflow Diagram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36" name="Picture 35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01" y="2247519"/>
            <a:ext cx="11179480" cy="9642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86" y="4203494"/>
            <a:ext cx="11210795" cy="820518"/>
          </a:xfrm>
          <a:prstGeom prst="rect">
            <a:avLst/>
          </a:prstGeom>
        </p:spPr>
      </p:pic>
      <p:sp>
        <p:nvSpPr>
          <p:cNvPr id="10" name="TextBox 9" descr="{&quot;o11&quot;: {&quot;isO11Modified&quot;: true}}"/>
          <p:cNvSpPr txBox="1"/>
          <p:nvPr/>
        </p:nvSpPr>
        <p:spPr>
          <a:xfrm>
            <a:off x="1295400" y="425223"/>
            <a:ext cx="57875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PROPOSED METHODOLOGY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{&quot;o11&quot;: {&quot;isO11Modified&quot;: true}}"/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BTCSE-86 | DIT University | Source: github.com/phnxsahil/Miryn-AI | March 2026</a:t>
            </a:r>
          </a:p>
        </p:txBody>
      </p:sp>
      <p:sp>
        <p:nvSpPr>
          <p:cNvPr id="5" name="TextBox 4" descr="{&quot;o11&quot;: {&quot;isO11Modified&quot;: true}}"/>
          <p:cNvSpPr txBox="1"/>
          <p:nvPr/>
        </p:nvSpPr>
        <p:spPr>
          <a:xfrm>
            <a:off x="8890000" y="6578600"/>
            <a:ext cx="3048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Source: github.com/phnxsahil/Miryn-AI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6449" y="1340609"/>
            <a:ext cx="469203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ranklin Gothic Book" panose="020B0503020102020204" pitchFamily="34" charset="0"/>
              </a:rPr>
              <a:t>Workflow Diagram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10" name="Picture 9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19" y="2301224"/>
            <a:ext cx="11430000" cy="1973718"/>
          </a:xfrm>
          <a:prstGeom prst="rect">
            <a:avLst/>
          </a:prstGeom>
        </p:spPr>
      </p:pic>
      <p:sp>
        <p:nvSpPr>
          <p:cNvPr id="12" name="TextBox 11" descr="{&quot;o11&quot;: {&quot;isO11Modified&quot;: true}}"/>
          <p:cNvSpPr txBox="1"/>
          <p:nvPr/>
        </p:nvSpPr>
        <p:spPr>
          <a:xfrm>
            <a:off x="1295400" y="425223"/>
            <a:ext cx="57875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PROPOSED METHODOLOGY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{&quot;o11&quot;: {&quot;isO11Modified&quot;: true}}"/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BTCSE-86 | DIT University | Source: github.com/phnxsahil/Miryn-AI | March 2026</a:t>
            </a:r>
          </a:p>
        </p:txBody>
      </p:sp>
      <p:sp>
        <p:nvSpPr>
          <p:cNvPr id="5" name="TextBox 4" descr="{&quot;o11&quot;: {&quot;isO11Modified&quot;: true}}"/>
          <p:cNvSpPr txBox="1"/>
          <p:nvPr/>
        </p:nvSpPr>
        <p:spPr>
          <a:xfrm>
            <a:off x="8890000" y="6578600"/>
            <a:ext cx="3048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FFFFFF"/>
                </a:solidFill>
                <a:latin typeface="Franklin Gothic Book" panose="020B0503020102020204"/>
              </a:defRPr>
            </a:pPr>
            <a:r>
              <a:t>Source: github.com/phnxsahil/Miryn-AI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10" name="Picture 9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 descr="{&quot;o11&quot;: {&quot;isO11Modified&quot;: true}}"/>
          <p:cNvSpPr txBox="1"/>
          <p:nvPr/>
        </p:nvSpPr>
        <p:spPr>
          <a:xfrm>
            <a:off x="1295400" y="425223"/>
            <a:ext cx="57875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PROPOSED METHODOLOGY</a:t>
            </a:r>
            <a:endParaRPr sz="3800" dirty="0">
              <a:latin typeface="+mj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02702" y="1613431"/>
          <a:ext cx="10786595" cy="43302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4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080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Next.js (React, SSR)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API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 (Python, async)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 API (Google)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Memory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Chroma DB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Storage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via Supabase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/ Sentiment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VADER + HuggingFace Transformers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 — Random Forest,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273">
                <a:tc>
                  <a:txBody>
                    <a:bodyPr/>
                    <a:lstStyle/>
                    <a:p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+ CI/CD pipeline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Box 12" descr="{&quot;o11&quot;: {&quot;isO11Modified&quot;: true}}"/>
          <p:cNvSpPr txBox="1"/>
          <p:nvPr/>
        </p:nvSpPr>
        <p:spPr>
          <a:xfrm>
            <a:off x="702702" y="1116920"/>
            <a:ext cx="378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dirty="0"/>
              <a:t>Technology Stack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 descr="{&quot;o11&quot;: {&quot;isO11Modified&quot;: true}}"/>
          <p:cNvSpPr txBox="1"/>
          <p:nvPr/>
        </p:nvSpPr>
        <p:spPr>
          <a:xfrm>
            <a:off x="2015392" y="1016000"/>
            <a:ext cx="889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B3A6B"/>
                </a:solidFill>
                <a:latin typeface="Franklin Gothic Medium" panose="020B0603020102020204"/>
              </a:defRPr>
            </a:pPr>
            <a:r>
              <a:rPr dirty="0"/>
              <a:t>6-Phase Capstone Execution Plan — March to May 2026</a:t>
            </a:r>
          </a:p>
        </p:txBody>
      </p:sp>
      <p:sp>
        <p:nvSpPr>
          <p:cNvPr id="6" name="TextBox 5" descr="{&quot;o11&quot;: {&quot;isO11Modified&quot;: true}}"/>
          <p:cNvSpPr txBox="1"/>
          <p:nvPr/>
        </p:nvSpPr>
        <p:spPr>
          <a:xfrm>
            <a:off x="635000" y="5143500"/>
            <a:ext cx="3471333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>
                <a:solidFill>
                  <a:srgbClr val="CC0000"/>
                </a:solidFill>
                <a:latin typeface="Arial" panose="020B0604020202020204"/>
              </a:rPr>
              <a:t>● </a:t>
            </a:r>
            <a:r>
              <a:rPr sz="850">
                <a:solidFill>
                  <a:srgbClr val="333333"/>
                </a:solidFill>
                <a:latin typeface="Franklin Gothic Book" panose="020B0503020102020204"/>
              </a:rPr>
              <a:t>Mar 10 — PPT + Report submitted to Dr. Vyomika Singh</a:t>
            </a:r>
          </a:p>
        </p:txBody>
      </p:sp>
      <p:sp>
        <p:nvSpPr>
          <p:cNvPr id="7" name="TextBox 6" descr="{&quot;o11&quot;: {&quot;isO11Modified&quot;: true}}"/>
          <p:cNvSpPr txBox="1"/>
          <p:nvPr/>
        </p:nvSpPr>
        <p:spPr>
          <a:xfrm>
            <a:off x="4360333" y="5143500"/>
            <a:ext cx="3471333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>
                <a:solidFill>
                  <a:srgbClr val="CC0000"/>
                </a:solidFill>
                <a:latin typeface="Arial" panose="020B0604020202020204"/>
              </a:rPr>
              <a:t>● </a:t>
            </a:r>
            <a:r>
              <a:rPr sz="850">
                <a:solidFill>
                  <a:srgbClr val="333333"/>
                </a:solidFill>
                <a:latin typeface="Franklin Gothic Book" panose="020B0503020102020204"/>
              </a:rPr>
              <a:t>Mar 16–20 — Midterm In-Person Presentation (Panel)</a:t>
            </a:r>
          </a:p>
        </p:txBody>
      </p:sp>
      <p:sp>
        <p:nvSpPr>
          <p:cNvPr id="8" name="TextBox 7" descr="{&quot;o11&quot;: {&quot;isO11Modified&quot;: true}}"/>
          <p:cNvSpPr txBox="1"/>
          <p:nvPr/>
        </p:nvSpPr>
        <p:spPr>
          <a:xfrm>
            <a:off x="8085666" y="5143500"/>
            <a:ext cx="3471333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>
                <a:solidFill>
                  <a:srgbClr val="CC0000"/>
                </a:solidFill>
                <a:latin typeface="Arial" panose="020B0604020202020204"/>
              </a:rPr>
              <a:t>● </a:t>
            </a:r>
            <a:r>
              <a:rPr sz="850">
                <a:solidFill>
                  <a:srgbClr val="333333"/>
                </a:solidFill>
                <a:latin typeface="Franklin Gothic Book" panose="020B0503020102020204"/>
              </a:rPr>
              <a:t>May 10 — Final Report + Demo submission deadline</a:t>
            </a:r>
          </a:p>
        </p:txBody>
      </p:sp>
      <p:sp>
        <p:nvSpPr>
          <p:cNvPr id="9" name="TextBox 8" descr="{&quot;o11&quot;: {&quot;isO11Modified&quot;: true}}"/>
          <p:cNvSpPr txBox="1"/>
          <p:nvPr/>
        </p:nvSpPr>
        <p:spPr>
          <a:xfrm>
            <a:off x="635000" y="6413500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sp>
        <p:nvSpPr>
          <p:cNvPr id="10" name="Rectangle 9" descr="{&quot;o11&quot;: {&quot;isO11Modified&quot;: true}}"/>
          <p:cNvSpPr/>
          <p:nvPr/>
        </p:nvSpPr>
        <p:spPr>
          <a:xfrm>
            <a:off x="635000" y="6350000"/>
            <a:ext cx="1092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16" name="Picture 15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206879"/>
              </p:ext>
            </p:extLst>
          </p:nvPr>
        </p:nvGraphicFramePr>
        <p:xfrm>
          <a:off x="715108" y="1581150"/>
          <a:ext cx="10961800" cy="343813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7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0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3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Phase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Jan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Feb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Mar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Apr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May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Owner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Status</a:t>
                      </a:r>
                    </a:p>
                  </a:txBody>
                  <a:tcPr marL="57291" marR="57291" marT="28645" marB="2864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 — Research &amp; Proposal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All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✅ Done</a:t>
                      </a:r>
                    </a:p>
                  </a:txBody>
                  <a:tcPr marL="57291" marR="57291" marT="28645" marB="2864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 — System Design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Sahil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✅ Done</a:t>
                      </a:r>
                    </a:p>
                  </a:txBody>
                  <a:tcPr marL="57291" marR="57291" marT="28645" marB="2864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 — Core Backend Dev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Sahil + </a:t>
                      </a:r>
                      <a:r>
                        <a:rPr lang="en-IN" sz="1100" dirty="0" err="1"/>
                        <a:t>Divyadeep</a:t>
                      </a:r>
                      <a:endParaRPr lang="en-IN" sz="1100" dirty="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1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  <a:ea typeface="Calibri" panose="020F0502020204030204"/>
                          <a:cs typeface="Calibri" panose="020F0502020204030204"/>
                        </a:rPr>
                        <a:t>🔄 In Progress</a:t>
                      </a:r>
                      <a:endParaRPr lang="en-IN" sz="1100" dirty="0"/>
                    </a:p>
                  </a:txBody>
                  <a:tcPr marL="57291" marR="57291" marT="28645" marB="2864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 — Data Science Models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Divyadeep</a:t>
                      </a:r>
                      <a:r>
                        <a:rPr lang="en-IN" sz="1100" dirty="0"/>
                        <a:t> + Gracy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1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🔄 In Progress</a:t>
                      </a:r>
                      <a:endParaRPr lang="en-IN" sz="1100" dirty="0"/>
                    </a:p>
                  </a:txBody>
                  <a:tcPr marL="57291" marR="57291" marT="28645" marB="2864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 — Integration &amp; Testing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All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100" b="0" i="0" u="none" strike="noStrike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⏳ Upcoming</a:t>
                      </a:r>
                    </a:p>
                    <a:p>
                      <a:pPr lvl="0">
                        <a:buNone/>
                      </a:pPr>
                      <a:endParaRPr lang="en-IN" sz="1100" dirty="0"/>
                    </a:p>
                  </a:txBody>
                  <a:tcPr marL="57291" marR="57291" marT="28645" marB="2864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 — Final Report &amp; Demo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/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███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All</a:t>
                      </a:r>
                    </a:p>
                  </a:txBody>
                  <a:tcPr marL="57291" marR="57291" marT="28645" marB="28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⏳ Upcoming</a:t>
                      </a:r>
                    </a:p>
                  </a:txBody>
                  <a:tcPr marL="57291" marR="57291" marT="28645" marB="2864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 descr="{&quot;o11&quot;: {&quot;isO11Modified&quot;: true}}"/>
          <p:cNvSpPr txBox="1"/>
          <p:nvPr/>
        </p:nvSpPr>
        <p:spPr>
          <a:xfrm>
            <a:off x="1295400" y="425223"/>
            <a:ext cx="397435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PROJECT TIMELINE</a:t>
            </a:r>
            <a:endParaRPr sz="3800" dirty="0"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501515" y="337523"/>
            <a:ext cx="11188970" cy="679103"/>
            <a:chOff x="501515" y="337523"/>
            <a:chExt cx="11188970" cy="679103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15" y="337523"/>
              <a:ext cx="679103" cy="679103"/>
            </a:xfrm>
            <a:prstGeom prst="rect">
              <a:avLst/>
            </a:prstGeom>
          </p:spPr>
        </p:pic>
        <p:pic>
          <p:nvPicPr>
            <p:cNvPr id="24" name="Picture 23" descr="E:\Working Files PA to VC\DITU Official Template &amp; Fonts\9851AD1D8CED4780BFF641F07CFE8B3B[4129906]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4319" y="337523"/>
              <a:ext cx="946166" cy="679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 descr="{&quot;o11&quot;: {&quot;isO11Modified&quot;: true}}"/>
          <p:cNvSpPr txBox="1"/>
          <p:nvPr/>
        </p:nvSpPr>
        <p:spPr>
          <a:xfrm>
            <a:off x="635000" y="1143000"/>
            <a:ext cx="635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t>IEEE Format | All citations managed via Zotero</a:t>
            </a:r>
          </a:p>
        </p:txBody>
      </p:sp>
      <p:sp>
        <p:nvSpPr>
          <p:cNvPr id="5" name="Rectangle 4" descr="{&quot;o11&quot;: {&quot;isO11Modified&quot;: true}}"/>
          <p:cNvSpPr/>
          <p:nvPr/>
        </p:nvSpPr>
        <p:spPr>
          <a:xfrm>
            <a:off x="501515" y="1438603"/>
            <a:ext cx="10922000" cy="127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 descr="{&quot;o11&quot;: {&quot;isO11Modified&quot;: true}}"/>
          <p:cNvSpPr/>
          <p:nvPr/>
        </p:nvSpPr>
        <p:spPr>
          <a:xfrm>
            <a:off x="660400" y="5885477"/>
            <a:ext cx="10922000" cy="63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 descr="{&quot;o11&quot;: {&quot;isO11Modified&quot;: true}}"/>
          <p:cNvSpPr/>
          <p:nvPr/>
        </p:nvSpPr>
        <p:spPr>
          <a:xfrm>
            <a:off x="635000" y="5778500"/>
            <a:ext cx="50800" cy="6350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 descr="{&quot;o11&quot;: {&quot;isO11Modified&quot;: true}}"/>
          <p:cNvSpPr txBox="1"/>
          <p:nvPr/>
        </p:nvSpPr>
        <p:spPr>
          <a:xfrm>
            <a:off x="825500" y="5905500"/>
            <a:ext cx="10604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t>All papers sourced from IEEE Xplore, ACM Digital Library, and NeurIPS Proceedings. Citations imported to Zotero. IEEE-format bibliography auto-generated for Word report. All diagrams made in PPT SmartArt / Visio. All images carry source attribution.</a:t>
            </a:r>
          </a:p>
        </p:txBody>
      </p:sp>
      <p:sp>
        <p:nvSpPr>
          <p:cNvPr id="21" name="TextBox 20" descr="{&quot;o11&quot;: {&quot;isO11Modified&quot;: true}}"/>
          <p:cNvSpPr txBox="1"/>
          <p:nvPr/>
        </p:nvSpPr>
        <p:spPr>
          <a:xfrm>
            <a:off x="635000" y="6585169"/>
            <a:ext cx="1092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E4651"/>
                </a:solidFill>
                <a:latin typeface="Franklin Gothic Book" panose="020B0503020102020204"/>
              </a:defRPr>
            </a:pPr>
            <a:r>
              <a:t>Group BTCSE-86 | DIT University | March 2026</a:t>
            </a:r>
          </a:p>
        </p:txBody>
      </p:sp>
      <p:sp>
        <p:nvSpPr>
          <p:cNvPr id="25" name="TextBox 24" descr="{&quot;o11&quot;: {&quot;isO11Modified&quot;: true}}"/>
          <p:cNvSpPr txBox="1"/>
          <p:nvPr/>
        </p:nvSpPr>
        <p:spPr>
          <a:xfrm>
            <a:off x="1295400" y="425223"/>
            <a:ext cx="271106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D72"/>
                </a:solidFill>
                <a:latin typeface="Franklin Gothic Medium" panose="020B0603020102020204"/>
              </a:defRPr>
            </a:pPr>
            <a:r>
              <a:rPr lang="en-IN" sz="3800" dirty="0">
                <a:latin typeface="+mj-lt"/>
              </a:rPr>
              <a:t>REFERENCES</a:t>
            </a:r>
            <a:endParaRPr sz="3800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1499591"/>
            <a:ext cx="12192000" cy="435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A. Mehta, S. Gupta, and A. Kumar, "AI chatbot for mental healthcare," in Proc. IEEE ICAST, 2022.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10.1109/ICAST55766.2022.10039548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D. Madhu, N. Nair, V. Jain et al., "Novel approach for stress and mental health using conversational AI," in Proc. IEEE ICCCNT, 2021.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10.1109/ICCCNT51525.2021.9579745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S.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Kusal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 Patil, J.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Choudrie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et al., "AI-based conversational agents: A scoping review from 2010–2021," IEEE Access, 2022.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10.1109/ACCESS.2022.3203474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V. Gupta, V. Joshi, A. Jain, and I. Garg, "Chatbot for mental health support using NLP," in Proc. IEEE INCET, 2023.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10.1109/INCET57972.2023.10170573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 K. Rani, H.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Vishnoi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M. Mishra, "Mental health chatbot using cognitive behavioural therapy," in Proc. IEEE ICDT, 2023.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10.1109/ICDT57929.2023.10150665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[6] T. Koulouri, S.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Lesta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D. Arnab, "Chatbots to support mental health in young adults," ACM Trans. Interact.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Syst., 2022.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10.1145/3485874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[7] Multiple Authors, "LLM-based mental health chatbots: A systematic review," ACM Trans.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Inf. Syst., 2024.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10.1145/3701041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[8] P. Lewis, E. Perez, A.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Piktus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et al., "Retrieval-augmented generation for knowledge-intensive NLP tasks," in Proc.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NeurIPS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2020.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[9] A. Mehta, S.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Virkar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 Khatri, R. Thakur, and A. Dalvi, "Artificial Intelligence Powered Chatbot for Mental Healthcare based on Sentiment Analysis," in Proc. IEEE ICAST, Mumbai, India, Dec. 2022, pp. 185–189.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10.1109/ICAST55766.2022.10039548</a:t>
            </a:r>
          </a:p>
          <a:p>
            <a:pPr algn="just">
              <a:lnSpc>
                <a:spcPct val="125000"/>
              </a:lnSpc>
              <a:spcBef>
                <a:spcPts val="400"/>
              </a:spcBef>
              <a:spcAft>
                <a:spcPts val="500"/>
              </a:spcAft>
            </a:pP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[10] P. Hegde and S. M. Meena, "A Survey on 5G Network Slicing — Epitome and Opportunities for a Novice," in Proc. IEEE ICCCNT, Kharagpur, India, Jul. 2021, pp. 1–5. </a:t>
            </a:r>
            <a:r>
              <a:rPr lang="en-IN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</a:t>
            </a:r>
            <a:r>
              <a:rPr lang="en-I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10.1109/ICCCNT51525.2021.9579745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github.com/phnxsahil/Miryn-AI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SYSTEM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6692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proposal deck described MIRYN AI as a persistent memory and identity framework. The implemented system now includes a working compare workspace, persona drill-down pages, deterministic reporting, and streaming route repair.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architecture is centered on four interacting layers: frontend surfaces, FastAPI orchestration, memory + identity services, and background reflection / event delivery.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extension adds the implementation evidence that was missing from the earlier deck: actual system diagrams, database view, persona comparison, prompt behavior, and final thesis artifacts.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380744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frontend routes: /chat, /identity, /memory, /compare, /compare/persona/[userId]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14884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203704"/>
            <a:ext cx="4791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backend endpoints: auth, chat, streaming, analytics, compare, report, memory, identity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2971800"/>
            <a:ext cx="4937760" cy="749808"/>
          </a:xfrm>
          <a:prstGeom prst="roundRect">
            <a:avLst>
              <a:gd name="adj" fmla="val 4878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026664"/>
            <a:ext cx="4791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thesis artifacts: 47-page PDF report, prompt screenshots, code screenshots, ER diagram, and final presentation assets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4937760" cy="841248"/>
          </a:xfrm>
          <a:prstGeom prst="roundRect">
            <a:avLst>
              <a:gd name="adj" fmla="val 4348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4032504"/>
            <a:ext cx="4791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focus: showing that different users cause different internal identity trajectories, not just different wording in chat replies.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generated from implemented 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7406640" cy="4251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83880" y="1234440"/>
            <a:ext cx="31546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hosts the user-facing surfaces for chat, identity, memory, and compare.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 act as the application boundary and pass requests into orchestrator-driven service logic.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 manage context retrieval, identity state, prompt construction, and memory persistence.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and workers allow reflection and events to happen after the visible response path.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generated from implemented 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WORKFLOW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78992"/>
            <a:ext cx="5669280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2280" y="1325880"/>
            <a:ext cx="429768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arrives through the chat UI and is validated by the backend.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loads identity and retrieves memory before the LLM call.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streamed first so the chat experience remains responsive.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that does Miryn continue with DS inference, event publication, and reflection updates.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48272" y="5577840"/>
            <a:ext cx="4434840" cy="530352"/>
          </a:xfrm>
          <a:prstGeom prst="roundRect">
            <a:avLst>
              <a:gd name="adj" fmla="val 689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21424" y="5632704"/>
            <a:ext cx="4288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optimization in final build: reflection and non-critical analytics were moved off the first-token path.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backend models + schema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7955280" cy="4983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41080" y="1280160"/>
            <a:ext cx="274320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own conversations, messages, identity versions, and onboarding data.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store role, content, embeddings, importance score, and idempotency metadata.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versions are append-oriented and linked to evolution logs for state-change inspection.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memory_layer.py and identity_engine.py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MEMORY + IDENTITY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memory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52144"/>
            <a:ext cx="5989320" cy="34015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1298448"/>
            <a:ext cx="429768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memory supports immediate continuity inside an active session.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stores semantically retrievable history for recent recall.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identity memory stores beliefs, open loops, patterns, emotions, and conflict traces.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snapshots unify these into a stable state used before every future response.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9808" y="5074920"/>
            <a:ext cx="10424160" cy="64008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129784"/>
            <a:ext cx="10277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balances semantic similarity, temporal relevance, and importance rather than treating every old message equally.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implemented compare pages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WORKSPACE AND PERSONA DRILL-DOWN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chat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24712"/>
            <a:ext cx="5212080" cy="2377440"/>
          </a:xfrm>
          <a:prstGeom prst="rect">
            <a:avLst/>
          </a:prstGeom>
        </p:spPr>
      </p:pic>
      <p:pic>
        <p:nvPicPr>
          <p:cNvPr id="10" name="Image 1" descr="D:\Projects\MirynAI-Production\Miryn-AI\reports\thesis\identity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124712"/>
            <a:ext cx="521208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86200"/>
            <a:ext cx="104241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compare workspace acts as the thesis evaluation surface rather than forcing screenshots out of raw developer views.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can be opened separately in identity, memory, or past-conversation mode for evidence capture.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architecture inspectable and presentable to a supervisor or viva panel.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seeded demo personas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USER VS CONFIDENT WORKING USER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5120640" cy="384048"/>
          </a:xfrm>
          <a:prstGeom prst="roundRect">
            <a:avLst>
              <a:gd name="adj" fmla="val 9524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289304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 - Vulnerable Soul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50292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burdened, grief-heavy, lower confidence.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through loneliness, atmosphere, sleep disruption, and personal meaning.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should answer with slower pacing, gentler reflection, and memory of emotionally important prior context.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892040" cy="384048"/>
          </a:xfrm>
          <a:prstGeom prst="roundRect">
            <a:avLst>
              <a:gd name="adj" fmla="val 952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28930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B - High Performer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47548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project-focused, and execution-oriented.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through launch planning, hiring, deployment, latency, and measurable progress.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should answer with concise strategic continuity and stronger action orientation.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754880"/>
            <a:ext cx="10424160" cy="731520"/>
          </a:xfrm>
          <a:prstGeom prst="roundRect">
            <a:avLst>
              <a:gd name="adj" fmla="val 5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809744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value of this comparison: the same system must produce different evolving internal models, not only different surface tones.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 analytics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COMPARISON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persona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6492240" cy="39319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325880"/>
          <a:ext cx="3566160" cy="256032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1143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Performer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98080" y="4343400"/>
            <a:ext cx="37033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emotional salience and drift in Persona A indicate a broader and more emotionally reinterpreted identity trajectory.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confidence and goal focus in Persona B indicate a more convergent operational identity path.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generated compare report artifacts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EVOLUTION AND PROMPT ADAPTATION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generated_assets\drift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5394960" cy="3154680"/>
          </a:xfrm>
          <a:prstGeom prst="rect">
            <a:avLst/>
          </a:prstGeom>
        </p:spPr>
      </p:pic>
      <p:pic>
        <p:nvPicPr>
          <p:cNvPr id="10" name="Image 1" descr="D:\Projects\MirynAI-Production\Miryn-AI\reports\thesis\generated_assets\sad_prom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097280"/>
            <a:ext cx="4983480" cy="1965960"/>
          </a:xfrm>
          <a:prstGeom prst="rect">
            <a:avLst/>
          </a:prstGeom>
        </p:spPr>
      </p:pic>
      <p:pic>
        <p:nvPicPr>
          <p:cNvPr id="11" name="Image 2" descr="D:\Projects\MirynAI-Production\Miryn-AI\reports\thesis\generated_assets\confident_prom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246120"/>
            <a:ext cx="4983480" cy="1965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8368" y="5440680"/>
            <a:ext cx="10469880" cy="566928"/>
          </a:xfrm>
          <a:prstGeom prst="roundRect">
            <a:avLst>
              <a:gd name="adj" fmla="val 6452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495544"/>
            <a:ext cx="10323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changes not only its wording but also its memory priorities, pacing, and conversational objective for the two personas.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0" y="1645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local validated thesis build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EVIDENCE, LIMITATIONS, AND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922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BTCSE-86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38928" y="64922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0" y="64922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pic>
        <p:nvPicPr>
          <p:cNvPr id="9" name="Image 0" descr="D:\Projects\MirynAI-Production\Miryn-AI\reports\thesis\images\code_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15568"/>
            <a:ext cx="3429000" cy="1828800"/>
          </a:xfrm>
          <a:prstGeom prst="rect">
            <a:avLst/>
          </a:prstGeom>
        </p:spPr>
      </p:pic>
      <p:pic>
        <p:nvPicPr>
          <p:cNvPr id="10" name="Image 1" descr="D:\Projects\MirynAI-Production\Miryn-AI\reports\thesis\images\code_sq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115568"/>
            <a:ext cx="3429000" cy="1828800"/>
          </a:xfrm>
          <a:prstGeom prst="rect">
            <a:avLst/>
          </a:prstGeom>
        </p:spPr>
      </p:pic>
      <p:pic>
        <p:nvPicPr>
          <p:cNvPr id="11" name="Image 2" descr="D:\Projects\MirynAI-Production\Miryn-AI\reports\thesis\images\code_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115568"/>
            <a:ext cx="2743200" cy="1828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3337560"/>
            <a:ext cx="104241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Miryn is now best described as a strong local thesis-demo build with real identity, memory, comparison, and report surfaces implemented end to end.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limitation is deployment maturity: local validation is strong, but public environment wiring still remains a next step.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conclusion: Miryn demonstrates that an identity-first conversational architecture can move beyond stateless chat and show different user trajectories in a structured, inspectable form.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543eed8-648e-4904-82bd-6d6f0526146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2E9DDF96109F439E25A73294F6D101" ma:contentTypeVersion="13" ma:contentTypeDescription="Create a new document." ma:contentTypeScope="" ma:versionID="af8bf3f1d00722be684399298ce370c1">
  <xsd:schema xmlns:xsd="http://www.w3.org/2001/XMLSchema" xmlns:xs="http://www.w3.org/2001/XMLSchema" xmlns:p="http://schemas.microsoft.com/office/2006/metadata/properties" xmlns:ns3="9543eed8-648e-4904-82bd-6d6f05261468" xmlns:ns4="e874dcac-7ff0-449f-a8d6-66acf33d288b" targetNamespace="http://schemas.microsoft.com/office/2006/metadata/properties" ma:root="true" ma:fieldsID="82e2de95bbcd78a0d9dba346af7e6467" ns3:_="" ns4:_="">
    <xsd:import namespace="9543eed8-648e-4904-82bd-6d6f05261468"/>
    <xsd:import namespace="e874dcac-7ff0-449f-a8d6-66acf33d28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43eed8-648e-4904-82bd-6d6f052614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4dcac-7ff0-449f-a8d6-66acf33d28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C739E8-30AB-45CB-AEB4-7B60770EEB31}">
  <ds:schemaRefs/>
</ds:datastoreItem>
</file>

<file path=customXml/itemProps2.xml><?xml version="1.0" encoding="utf-8"?>
<ds:datastoreItem xmlns:ds="http://schemas.openxmlformats.org/officeDocument/2006/customXml" ds:itemID="{D3260478-2438-4297-AF57-464B0B48A922}">
  <ds:schemaRefs/>
</ds:datastoreItem>
</file>

<file path=customXml/itemProps3.xml><?xml version="1.0" encoding="utf-8"?>
<ds:datastoreItem xmlns:ds="http://schemas.openxmlformats.org/officeDocument/2006/customXml" ds:itemID="{793192A6-4CA3-4278-8B03-24B5ED4FE95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3240</Words>
  <Application>Microsoft Office PowerPoint</Application>
  <PresentationFormat>Widescreen</PresentationFormat>
  <Paragraphs>305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Franklin Gothic Book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MIRYN AI – BTCSE-86 Midterm</dc:title>
  <dc:creator>Sahil Sharma</dc:creator>
  <dc:description>generated using python-pptx</dc:description>
  <cp:lastModifiedBy>SAHIL SHARMA</cp:lastModifiedBy>
  <cp:revision>54</cp:revision>
  <dcterms:created xsi:type="dcterms:W3CDTF">2013-01-27T09:14:00Z</dcterms:created>
  <dcterms:modified xsi:type="dcterms:W3CDTF">2026-03-24T04:59:17Z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0x010100182E9DDF96109F439E25A73294F6D101</vt:lpwstr>
  </property>
  <property fmtid="{D5CDD505-2E9C-101B-9397-08002B2CF9AE}" pid="3" name="ICV">
    <vt:lpwstr>ABB501355CB942D69D3F35C035486642_13</vt:lpwstr>
  </property>
  <property fmtid="{D5CDD505-2E9C-101B-9397-08002B2CF9AE}" pid="4" name="KSOProductBuildVer">
    <vt:lpwstr>1033-12.2.0.23196</vt:lpwstr>
  </property>
</Properties>
</file>